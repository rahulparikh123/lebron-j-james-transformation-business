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56" r:id="rId3"/>
    <p:sldId id="257" r:id="rId4"/>
    <p:sldId id="263" r:id="rId5"/>
    <p:sldId id="260" r:id="rId6"/>
    <p:sldId id="264" r:id="rId7"/>
    <p:sldId id="265" r:id="rId8"/>
    <p:sldId id="259" r:id="rId9"/>
  </p:sldIdLst>
  <p:sldSz cx="9144000" cy="6858000" type="screen4x3"/>
  <p:notesSz cx="6858000" cy="9144000"/>
  <p:embeddedFontLst>
    <p:embeddedFont>
      <p:font typeface="Avenir Next LT Pro" panose="020B0504020202020204" pitchFamily="34" charset="77"/>
      <p:regular r:id="rId11"/>
      <p:bold r:id="rId12"/>
      <p:italic r:id="rId13"/>
      <p:boldItalic r:id="rId14"/>
    </p:embeddedFont>
    <p:embeddedFont>
      <p:font typeface="Book Antiqua" panose="02040602050305030304" pitchFamily="18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j0AMgk81dhF7uK1fQ6JlKCKZRa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A979"/>
    <a:srgbClr val="351C04"/>
    <a:srgbClr val="673600"/>
    <a:srgbClr val="AC7942"/>
    <a:srgbClr val="AB4500"/>
    <a:srgbClr val="D7A979"/>
    <a:srgbClr val="361D04"/>
    <a:srgbClr val="683600"/>
    <a:srgbClr val="AB7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169E42-6BE9-46FA-AC5D-2B040730D28F}">
  <a:tblStyle styleId="{EB169E42-6BE9-46FA-AC5D-2B040730D2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7"/>
  </p:normalViewPr>
  <p:slideViewPr>
    <p:cSldViewPr snapToGrid="0" showGuides="1">
      <p:cViewPr>
        <p:scale>
          <a:sx n="127" d="100"/>
          <a:sy n="127" d="100"/>
        </p:scale>
        <p:origin x="-56" y="-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avarjain/Downloads/ATZ%20Charts%20and%20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avarjain/Downloads/ATZ%20Charts%20and%20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ravarjain/Downloads/ATZ%20Charts%20and%20Graph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ATZ Stock Price</a:t>
            </a:r>
          </a:p>
        </c:rich>
      </c:tx>
      <c:layout>
        <c:manualLayout>
          <c:xMode val="edge"/>
          <c:yMode val="edge"/>
          <c:x val="0.33055354247181612"/>
          <c:y val="0.124192392144060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'ATZ Stock Price'!$B$1</c:f>
              <c:strCache>
                <c:ptCount val="1"/>
                <c:pt idx="0">
                  <c:v>Adj Close</c:v>
                </c:pt>
              </c:strCache>
            </c:strRef>
          </c:tx>
          <c:spPr>
            <a:ln w="28575" cap="rnd">
              <a:solidFill>
                <a:srgbClr val="673600"/>
              </a:solidFill>
              <a:round/>
            </a:ln>
            <a:effectLst/>
          </c:spPr>
          <c:marker>
            <c:symbol val="none"/>
          </c:marker>
          <c:cat>
            <c:numRef>
              <c:f>'ATZ Stock Price'!$A$2:$A$503</c:f>
              <c:numCache>
                <c:formatCode>m/d/yy</c:formatCode>
                <c:ptCount val="502"/>
                <c:pt idx="0">
                  <c:v>44452</c:v>
                </c:pt>
                <c:pt idx="1">
                  <c:v>44453</c:v>
                </c:pt>
                <c:pt idx="2">
                  <c:v>44454</c:v>
                </c:pt>
                <c:pt idx="3">
                  <c:v>44455</c:v>
                </c:pt>
                <c:pt idx="4">
                  <c:v>44456</c:v>
                </c:pt>
                <c:pt idx="5">
                  <c:v>44459</c:v>
                </c:pt>
                <c:pt idx="6">
                  <c:v>44460</c:v>
                </c:pt>
                <c:pt idx="7">
                  <c:v>44461</c:v>
                </c:pt>
                <c:pt idx="8">
                  <c:v>44462</c:v>
                </c:pt>
                <c:pt idx="9">
                  <c:v>44463</c:v>
                </c:pt>
                <c:pt idx="10">
                  <c:v>44466</c:v>
                </c:pt>
                <c:pt idx="11">
                  <c:v>44467</c:v>
                </c:pt>
                <c:pt idx="12">
                  <c:v>44468</c:v>
                </c:pt>
                <c:pt idx="13">
                  <c:v>44469</c:v>
                </c:pt>
                <c:pt idx="14">
                  <c:v>44470</c:v>
                </c:pt>
                <c:pt idx="15">
                  <c:v>44473</c:v>
                </c:pt>
                <c:pt idx="16">
                  <c:v>44474</c:v>
                </c:pt>
                <c:pt idx="17">
                  <c:v>44475</c:v>
                </c:pt>
                <c:pt idx="18">
                  <c:v>44476</c:v>
                </c:pt>
                <c:pt idx="19">
                  <c:v>44477</c:v>
                </c:pt>
                <c:pt idx="20">
                  <c:v>44481</c:v>
                </c:pt>
                <c:pt idx="21">
                  <c:v>44482</c:v>
                </c:pt>
                <c:pt idx="22">
                  <c:v>44483</c:v>
                </c:pt>
                <c:pt idx="23">
                  <c:v>44484</c:v>
                </c:pt>
                <c:pt idx="24">
                  <c:v>44487</c:v>
                </c:pt>
                <c:pt idx="25">
                  <c:v>44488</c:v>
                </c:pt>
                <c:pt idx="26">
                  <c:v>44489</c:v>
                </c:pt>
                <c:pt idx="27">
                  <c:v>44490</c:v>
                </c:pt>
                <c:pt idx="28">
                  <c:v>44491</c:v>
                </c:pt>
                <c:pt idx="29">
                  <c:v>44494</c:v>
                </c:pt>
                <c:pt idx="30">
                  <c:v>44495</c:v>
                </c:pt>
                <c:pt idx="31">
                  <c:v>44496</c:v>
                </c:pt>
                <c:pt idx="32">
                  <c:v>44497</c:v>
                </c:pt>
                <c:pt idx="33">
                  <c:v>44498</c:v>
                </c:pt>
                <c:pt idx="34">
                  <c:v>44501</c:v>
                </c:pt>
                <c:pt idx="35">
                  <c:v>44502</c:v>
                </c:pt>
                <c:pt idx="36">
                  <c:v>44503</c:v>
                </c:pt>
                <c:pt idx="37">
                  <c:v>44504</c:v>
                </c:pt>
                <c:pt idx="38">
                  <c:v>44505</c:v>
                </c:pt>
                <c:pt idx="39">
                  <c:v>44508</c:v>
                </c:pt>
                <c:pt idx="40">
                  <c:v>44509</c:v>
                </c:pt>
                <c:pt idx="41">
                  <c:v>44510</c:v>
                </c:pt>
                <c:pt idx="42">
                  <c:v>44511</c:v>
                </c:pt>
                <c:pt idx="43">
                  <c:v>44512</c:v>
                </c:pt>
                <c:pt idx="44">
                  <c:v>44515</c:v>
                </c:pt>
                <c:pt idx="45">
                  <c:v>44516</c:v>
                </c:pt>
                <c:pt idx="46">
                  <c:v>44517</c:v>
                </c:pt>
                <c:pt idx="47">
                  <c:v>44518</c:v>
                </c:pt>
                <c:pt idx="48">
                  <c:v>44519</c:v>
                </c:pt>
                <c:pt idx="49">
                  <c:v>44522</c:v>
                </c:pt>
                <c:pt idx="50">
                  <c:v>44523</c:v>
                </c:pt>
                <c:pt idx="51">
                  <c:v>44524</c:v>
                </c:pt>
                <c:pt idx="52">
                  <c:v>44525</c:v>
                </c:pt>
                <c:pt idx="53">
                  <c:v>44526</c:v>
                </c:pt>
                <c:pt idx="54">
                  <c:v>44529</c:v>
                </c:pt>
                <c:pt idx="55">
                  <c:v>44530</c:v>
                </c:pt>
                <c:pt idx="56">
                  <c:v>44531</c:v>
                </c:pt>
                <c:pt idx="57">
                  <c:v>44532</c:v>
                </c:pt>
                <c:pt idx="58">
                  <c:v>44533</c:v>
                </c:pt>
                <c:pt idx="59">
                  <c:v>44536</c:v>
                </c:pt>
                <c:pt idx="60">
                  <c:v>44537</c:v>
                </c:pt>
                <c:pt idx="61">
                  <c:v>44538</c:v>
                </c:pt>
                <c:pt idx="62">
                  <c:v>44539</c:v>
                </c:pt>
                <c:pt idx="63">
                  <c:v>44540</c:v>
                </c:pt>
                <c:pt idx="64">
                  <c:v>44543</c:v>
                </c:pt>
                <c:pt idx="65">
                  <c:v>44544</c:v>
                </c:pt>
                <c:pt idx="66">
                  <c:v>44545</c:v>
                </c:pt>
                <c:pt idx="67">
                  <c:v>44546</c:v>
                </c:pt>
                <c:pt idx="68">
                  <c:v>44547</c:v>
                </c:pt>
                <c:pt idx="69">
                  <c:v>44550</c:v>
                </c:pt>
                <c:pt idx="70">
                  <c:v>44551</c:v>
                </c:pt>
                <c:pt idx="71">
                  <c:v>44552</c:v>
                </c:pt>
                <c:pt idx="72">
                  <c:v>44553</c:v>
                </c:pt>
                <c:pt idx="73">
                  <c:v>44554</c:v>
                </c:pt>
                <c:pt idx="74">
                  <c:v>44559</c:v>
                </c:pt>
                <c:pt idx="75">
                  <c:v>44560</c:v>
                </c:pt>
                <c:pt idx="76">
                  <c:v>44561</c:v>
                </c:pt>
                <c:pt idx="77">
                  <c:v>44565</c:v>
                </c:pt>
                <c:pt idx="78">
                  <c:v>44566</c:v>
                </c:pt>
                <c:pt idx="79">
                  <c:v>44567</c:v>
                </c:pt>
                <c:pt idx="80">
                  <c:v>44568</c:v>
                </c:pt>
                <c:pt idx="81">
                  <c:v>44571</c:v>
                </c:pt>
                <c:pt idx="82">
                  <c:v>44572</c:v>
                </c:pt>
                <c:pt idx="83">
                  <c:v>44573</c:v>
                </c:pt>
                <c:pt idx="84">
                  <c:v>44574</c:v>
                </c:pt>
                <c:pt idx="85">
                  <c:v>44575</c:v>
                </c:pt>
                <c:pt idx="86">
                  <c:v>44578</c:v>
                </c:pt>
                <c:pt idx="87">
                  <c:v>44579</c:v>
                </c:pt>
                <c:pt idx="88">
                  <c:v>44580</c:v>
                </c:pt>
                <c:pt idx="89">
                  <c:v>44581</c:v>
                </c:pt>
                <c:pt idx="90">
                  <c:v>44582</c:v>
                </c:pt>
                <c:pt idx="91">
                  <c:v>44585</c:v>
                </c:pt>
                <c:pt idx="92">
                  <c:v>44586</c:v>
                </c:pt>
                <c:pt idx="93">
                  <c:v>44587</c:v>
                </c:pt>
                <c:pt idx="94">
                  <c:v>44588</c:v>
                </c:pt>
                <c:pt idx="95">
                  <c:v>44589</c:v>
                </c:pt>
                <c:pt idx="96">
                  <c:v>44592</c:v>
                </c:pt>
                <c:pt idx="97">
                  <c:v>44593</c:v>
                </c:pt>
                <c:pt idx="98">
                  <c:v>44594</c:v>
                </c:pt>
                <c:pt idx="99">
                  <c:v>44595</c:v>
                </c:pt>
                <c:pt idx="100">
                  <c:v>44596</c:v>
                </c:pt>
                <c:pt idx="101">
                  <c:v>44599</c:v>
                </c:pt>
                <c:pt idx="102">
                  <c:v>44600</c:v>
                </c:pt>
                <c:pt idx="103">
                  <c:v>44601</c:v>
                </c:pt>
                <c:pt idx="104">
                  <c:v>44602</c:v>
                </c:pt>
                <c:pt idx="105">
                  <c:v>44603</c:v>
                </c:pt>
                <c:pt idx="106">
                  <c:v>44606</c:v>
                </c:pt>
                <c:pt idx="107">
                  <c:v>44607</c:v>
                </c:pt>
                <c:pt idx="108">
                  <c:v>44608</c:v>
                </c:pt>
                <c:pt idx="109">
                  <c:v>44609</c:v>
                </c:pt>
                <c:pt idx="110">
                  <c:v>44610</c:v>
                </c:pt>
                <c:pt idx="111">
                  <c:v>44614</c:v>
                </c:pt>
                <c:pt idx="112">
                  <c:v>44615</c:v>
                </c:pt>
                <c:pt idx="113">
                  <c:v>44616</c:v>
                </c:pt>
                <c:pt idx="114">
                  <c:v>44617</c:v>
                </c:pt>
                <c:pt idx="115">
                  <c:v>44620</c:v>
                </c:pt>
                <c:pt idx="116">
                  <c:v>44621</c:v>
                </c:pt>
                <c:pt idx="117">
                  <c:v>44622</c:v>
                </c:pt>
                <c:pt idx="118">
                  <c:v>44623</c:v>
                </c:pt>
                <c:pt idx="119">
                  <c:v>44624</c:v>
                </c:pt>
                <c:pt idx="120">
                  <c:v>44627</c:v>
                </c:pt>
                <c:pt idx="121">
                  <c:v>44628</c:v>
                </c:pt>
                <c:pt idx="122">
                  <c:v>44629</c:v>
                </c:pt>
                <c:pt idx="123">
                  <c:v>44630</c:v>
                </c:pt>
                <c:pt idx="124">
                  <c:v>44631</c:v>
                </c:pt>
                <c:pt idx="125">
                  <c:v>44634</c:v>
                </c:pt>
                <c:pt idx="126">
                  <c:v>44635</c:v>
                </c:pt>
                <c:pt idx="127">
                  <c:v>44636</c:v>
                </c:pt>
                <c:pt idx="128">
                  <c:v>44637</c:v>
                </c:pt>
                <c:pt idx="129">
                  <c:v>44638</c:v>
                </c:pt>
                <c:pt idx="130">
                  <c:v>44641</c:v>
                </c:pt>
                <c:pt idx="131">
                  <c:v>44642</c:v>
                </c:pt>
                <c:pt idx="132">
                  <c:v>44643</c:v>
                </c:pt>
                <c:pt idx="133">
                  <c:v>44644</c:v>
                </c:pt>
                <c:pt idx="134">
                  <c:v>44645</c:v>
                </c:pt>
                <c:pt idx="135">
                  <c:v>44648</c:v>
                </c:pt>
                <c:pt idx="136">
                  <c:v>44649</c:v>
                </c:pt>
                <c:pt idx="137">
                  <c:v>44650</c:v>
                </c:pt>
                <c:pt idx="138">
                  <c:v>44651</c:v>
                </c:pt>
                <c:pt idx="139">
                  <c:v>44652</c:v>
                </c:pt>
                <c:pt idx="140">
                  <c:v>44655</c:v>
                </c:pt>
                <c:pt idx="141">
                  <c:v>44656</c:v>
                </c:pt>
                <c:pt idx="142">
                  <c:v>44657</c:v>
                </c:pt>
                <c:pt idx="143">
                  <c:v>44658</c:v>
                </c:pt>
                <c:pt idx="144">
                  <c:v>44659</c:v>
                </c:pt>
                <c:pt idx="145">
                  <c:v>44662</c:v>
                </c:pt>
                <c:pt idx="146">
                  <c:v>44663</c:v>
                </c:pt>
                <c:pt idx="147">
                  <c:v>44664</c:v>
                </c:pt>
                <c:pt idx="148">
                  <c:v>44665</c:v>
                </c:pt>
                <c:pt idx="149">
                  <c:v>44669</c:v>
                </c:pt>
                <c:pt idx="150">
                  <c:v>44670</c:v>
                </c:pt>
                <c:pt idx="151">
                  <c:v>44671</c:v>
                </c:pt>
                <c:pt idx="152">
                  <c:v>44672</c:v>
                </c:pt>
                <c:pt idx="153">
                  <c:v>44673</c:v>
                </c:pt>
                <c:pt idx="154">
                  <c:v>44676</c:v>
                </c:pt>
                <c:pt idx="155">
                  <c:v>44677</c:v>
                </c:pt>
                <c:pt idx="156">
                  <c:v>44678</c:v>
                </c:pt>
                <c:pt idx="157">
                  <c:v>44679</c:v>
                </c:pt>
                <c:pt idx="158">
                  <c:v>44680</c:v>
                </c:pt>
                <c:pt idx="159">
                  <c:v>44683</c:v>
                </c:pt>
                <c:pt idx="160">
                  <c:v>44684</c:v>
                </c:pt>
                <c:pt idx="161">
                  <c:v>44685</c:v>
                </c:pt>
                <c:pt idx="162">
                  <c:v>44686</c:v>
                </c:pt>
                <c:pt idx="163">
                  <c:v>44687</c:v>
                </c:pt>
                <c:pt idx="164">
                  <c:v>44690</c:v>
                </c:pt>
                <c:pt idx="165">
                  <c:v>44691</c:v>
                </c:pt>
                <c:pt idx="166">
                  <c:v>44692</c:v>
                </c:pt>
                <c:pt idx="167">
                  <c:v>44693</c:v>
                </c:pt>
                <c:pt idx="168">
                  <c:v>44694</c:v>
                </c:pt>
                <c:pt idx="169">
                  <c:v>44697</c:v>
                </c:pt>
                <c:pt idx="170">
                  <c:v>44698</c:v>
                </c:pt>
                <c:pt idx="171">
                  <c:v>44699</c:v>
                </c:pt>
                <c:pt idx="172">
                  <c:v>44700</c:v>
                </c:pt>
                <c:pt idx="173">
                  <c:v>44701</c:v>
                </c:pt>
                <c:pt idx="174">
                  <c:v>44705</c:v>
                </c:pt>
                <c:pt idx="175">
                  <c:v>44706</c:v>
                </c:pt>
                <c:pt idx="176">
                  <c:v>44707</c:v>
                </c:pt>
                <c:pt idx="177">
                  <c:v>44708</c:v>
                </c:pt>
                <c:pt idx="178">
                  <c:v>44711</c:v>
                </c:pt>
                <c:pt idx="179">
                  <c:v>44712</c:v>
                </c:pt>
                <c:pt idx="180">
                  <c:v>44713</c:v>
                </c:pt>
                <c:pt idx="181">
                  <c:v>44714</c:v>
                </c:pt>
                <c:pt idx="182">
                  <c:v>44715</c:v>
                </c:pt>
                <c:pt idx="183">
                  <c:v>44718</c:v>
                </c:pt>
                <c:pt idx="184">
                  <c:v>44719</c:v>
                </c:pt>
                <c:pt idx="185">
                  <c:v>44720</c:v>
                </c:pt>
                <c:pt idx="186">
                  <c:v>44721</c:v>
                </c:pt>
                <c:pt idx="187">
                  <c:v>44722</c:v>
                </c:pt>
                <c:pt idx="188">
                  <c:v>44725</c:v>
                </c:pt>
                <c:pt idx="189">
                  <c:v>44726</c:v>
                </c:pt>
                <c:pt idx="190">
                  <c:v>44727</c:v>
                </c:pt>
                <c:pt idx="191">
                  <c:v>44728</c:v>
                </c:pt>
                <c:pt idx="192">
                  <c:v>44729</c:v>
                </c:pt>
                <c:pt idx="193">
                  <c:v>44732</c:v>
                </c:pt>
                <c:pt idx="194">
                  <c:v>44733</c:v>
                </c:pt>
                <c:pt idx="195">
                  <c:v>44734</c:v>
                </c:pt>
                <c:pt idx="196">
                  <c:v>44735</c:v>
                </c:pt>
                <c:pt idx="197">
                  <c:v>44736</c:v>
                </c:pt>
                <c:pt idx="198">
                  <c:v>44739</c:v>
                </c:pt>
                <c:pt idx="199">
                  <c:v>44740</c:v>
                </c:pt>
                <c:pt idx="200">
                  <c:v>44741</c:v>
                </c:pt>
                <c:pt idx="201">
                  <c:v>44742</c:v>
                </c:pt>
                <c:pt idx="202">
                  <c:v>44746</c:v>
                </c:pt>
                <c:pt idx="203">
                  <c:v>44747</c:v>
                </c:pt>
                <c:pt idx="204">
                  <c:v>44748</c:v>
                </c:pt>
                <c:pt idx="205">
                  <c:v>44749</c:v>
                </c:pt>
                <c:pt idx="206">
                  <c:v>44750</c:v>
                </c:pt>
                <c:pt idx="207">
                  <c:v>44753</c:v>
                </c:pt>
                <c:pt idx="208">
                  <c:v>44754</c:v>
                </c:pt>
                <c:pt idx="209">
                  <c:v>44755</c:v>
                </c:pt>
                <c:pt idx="210">
                  <c:v>44756</c:v>
                </c:pt>
                <c:pt idx="211">
                  <c:v>44757</c:v>
                </c:pt>
                <c:pt idx="212">
                  <c:v>44760</c:v>
                </c:pt>
                <c:pt idx="213">
                  <c:v>44761</c:v>
                </c:pt>
                <c:pt idx="214">
                  <c:v>44762</c:v>
                </c:pt>
                <c:pt idx="215">
                  <c:v>44763</c:v>
                </c:pt>
                <c:pt idx="216">
                  <c:v>44764</c:v>
                </c:pt>
                <c:pt idx="217">
                  <c:v>44767</c:v>
                </c:pt>
                <c:pt idx="218">
                  <c:v>44768</c:v>
                </c:pt>
                <c:pt idx="219">
                  <c:v>44769</c:v>
                </c:pt>
                <c:pt idx="220">
                  <c:v>44770</c:v>
                </c:pt>
                <c:pt idx="221">
                  <c:v>44771</c:v>
                </c:pt>
                <c:pt idx="222">
                  <c:v>44775</c:v>
                </c:pt>
                <c:pt idx="223">
                  <c:v>44776</c:v>
                </c:pt>
                <c:pt idx="224">
                  <c:v>44777</c:v>
                </c:pt>
                <c:pt idx="225">
                  <c:v>44778</c:v>
                </c:pt>
                <c:pt idx="226">
                  <c:v>44781</c:v>
                </c:pt>
                <c:pt idx="227">
                  <c:v>44782</c:v>
                </c:pt>
                <c:pt idx="228">
                  <c:v>44783</c:v>
                </c:pt>
                <c:pt idx="229">
                  <c:v>44784</c:v>
                </c:pt>
                <c:pt idx="230">
                  <c:v>44785</c:v>
                </c:pt>
                <c:pt idx="231">
                  <c:v>44788</c:v>
                </c:pt>
                <c:pt idx="232">
                  <c:v>44789</c:v>
                </c:pt>
                <c:pt idx="233">
                  <c:v>44790</c:v>
                </c:pt>
                <c:pt idx="234">
                  <c:v>44791</c:v>
                </c:pt>
                <c:pt idx="235">
                  <c:v>44792</c:v>
                </c:pt>
                <c:pt idx="236">
                  <c:v>44795</c:v>
                </c:pt>
                <c:pt idx="237">
                  <c:v>44796</c:v>
                </c:pt>
                <c:pt idx="238">
                  <c:v>44797</c:v>
                </c:pt>
                <c:pt idx="239">
                  <c:v>44798</c:v>
                </c:pt>
                <c:pt idx="240">
                  <c:v>44799</c:v>
                </c:pt>
                <c:pt idx="241">
                  <c:v>44802</c:v>
                </c:pt>
                <c:pt idx="242">
                  <c:v>44803</c:v>
                </c:pt>
                <c:pt idx="243">
                  <c:v>44804</c:v>
                </c:pt>
                <c:pt idx="244">
                  <c:v>44805</c:v>
                </c:pt>
                <c:pt idx="245">
                  <c:v>44806</c:v>
                </c:pt>
                <c:pt idx="246">
                  <c:v>44810</c:v>
                </c:pt>
                <c:pt idx="247">
                  <c:v>44811</c:v>
                </c:pt>
                <c:pt idx="248">
                  <c:v>44812</c:v>
                </c:pt>
                <c:pt idx="249">
                  <c:v>44813</c:v>
                </c:pt>
                <c:pt idx="250">
                  <c:v>44816</c:v>
                </c:pt>
                <c:pt idx="251">
                  <c:v>44817</c:v>
                </c:pt>
                <c:pt idx="252">
                  <c:v>44818</c:v>
                </c:pt>
                <c:pt idx="253">
                  <c:v>44819</c:v>
                </c:pt>
                <c:pt idx="254">
                  <c:v>44820</c:v>
                </c:pt>
                <c:pt idx="255">
                  <c:v>44823</c:v>
                </c:pt>
                <c:pt idx="256">
                  <c:v>44824</c:v>
                </c:pt>
                <c:pt idx="257">
                  <c:v>44825</c:v>
                </c:pt>
                <c:pt idx="258">
                  <c:v>44826</c:v>
                </c:pt>
                <c:pt idx="259">
                  <c:v>44827</c:v>
                </c:pt>
                <c:pt idx="260">
                  <c:v>44830</c:v>
                </c:pt>
                <c:pt idx="261">
                  <c:v>44831</c:v>
                </c:pt>
                <c:pt idx="262">
                  <c:v>44832</c:v>
                </c:pt>
                <c:pt idx="263">
                  <c:v>44833</c:v>
                </c:pt>
                <c:pt idx="264">
                  <c:v>44834</c:v>
                </c:pt>
                <c:pt idx="265">
                  <c:v>44837</c:v>
                </c:pt>
                <c:pt idx="266">
                  <c:v>44838</c:v>
                </c:pt>
                <c:pt idx="267">
                  <c:v>44839</c:v>
                </c:pt>
                <c:pt idx="268">
                  <c:v>44840</c:v>
                </c:pt>
                <c:pt idx="269">
                  <c:v>44841</c:v>
                </c:pt>
                <c:pt idx="270">
                  <c:v>44845</c:v>
                </c:pt>
                <c:pt idx="271">
                  <c:v>44846</c:v>
                </c:pt>
                <c:pt idx="272">
                  <c:v>44847</c:v>
                </c:pt>
                <c:pt idx="273">
                  <c:v>44848</c:v>
                </c:pt>
                <c:pt idx="274">
                  <c:v>44851</c:v>
                </c:pt>
                <c:pt idx="275">
                  <c:v>44852</c:v>
                </c:pt>
                <c:pt idx="276">
                  <c:v>44853</c:v>
                </c:pt>
                <c:pt idx="277">
                  <c:v>44854</c:v>
                </c:pt>
                <c:pt idx="278">
                  <c:v>44855</c:v>
                </c:pt>
                <c:pt idx="279">
                  <c:v>44858</c:v>
                </c:pt>
                <c:pt idx="280">
                  <c:v>44859</c:v>
                </c:pt>
                <c:pt idx="281">
                  <c:v>44860</c:v>
                </c:pt>
                <c:pt idx="282">
                  <c:v>44861</c:v>
                </c:pt>
                <c:pt idx="283">
                  <c:v>44862</c:v>
                </c:pt>
                <c:pt idx="284">
                  <c:v>44865</c:v>
                </c:pt>
                <c:pt idx="285">
                  <c:v>44866</c:v>
                </c:pt>
                <c:pt idx="286">
                  <c:v>44867</c:v>
                </c:pt>
                <c:pt idx="287">
                  <c:v>44868</c:v>
                </c:pt>
                <c:pt idx="288">
                  <c:v>44869</c:v>
                </c:pt>
                <c:pt idx="289">
                  <c:v>44872</c:v>
                </c:pt>
                <c:pt idx="290">
                  <c:v>44873</c:v>
                </c:pt>
                <c:pt idx="291">
                  <c:v>44874</c:v>
                </c:pt>
                <c:pt idx="292">
                  <c:v>44875</c:v>
                </c:pt>
                <c:pt idx="293">
                  <c:v>44876</c:v>
                </c:pt>
                <c:pt idx="294">
                  <c:v>44879</c:v>
                </c:pt>
                <c:pt idx="295">
                  <c:v>44880</c:v>
                </c:pt>
                <c:pt idx="296">
                  <c:v>44881</c:v>
                </c:pt>
                <c:pt idx="297">
                  <c:v>44882</c:v>
                </c:pt>
                <c:pt idx="298">
                  <c:v>44883</c:v>
                </c:pt>
                <c:pt idx="299">
                  <c:v>44886</c:v>
                </c:pt>
                <c:pt idx="300">
                  <c:v>44887</c:v>
                </c:pt>
                <c:pt idx="301">
                  <c:v>44888</c:v>
                </c:pt>
                <c:pt idx="302">
                  <c:v>44889</c:v>
                </c:pt>
                <c:pt idx="303">
                  <c:v>44890</c:v>
                </c:pt>
                <c:pt idx="304">
                  <c:v>44893</c:v>
                </c:pt>
                <c:pt idx="305">
                  <c:v>44894</c:v>
                </c:pt>
                <c:pt idx="306">
                  <c:v>44895</c:v>
                </c:pt>
                <c:pt idx="307">
                  <c:v>44896</c:v>
                </c:pt>
                <c:pt idx="308">
                  <c:v>44897</c:v>
                </c:pt>
                <c:pt idx="309">
                  <c:v>44900</c:v>
                </c:pt>
                <c:pt idx="310">
                  <c:v>44901</c:v>
                </c:pt>
                <c:pt idx="311">
                  <c:v>44902</c:v>
                </c:pt>
                <c:pt idx="312">
                  <c:v>44903</c:v>
                </c:pt>
                <c:pt idx="313">
                  <c:v>44904</c:v>
                </c:pt>
                <c:pt idx="314">
                  <c:v>44907</c:v>
                </c:pt>
                <c:pt idx="315">
                  <c:v>44908</c:v>
                </c:pt>
                <c:pt idx="316">
                  <c:v>44909</c:v>
                </c:pt>
                <c:pt idx="317">
                  <c:v>44910</c:v>
                </c:pt>
                <c:pt idx="318">
                  <c:v>44911</c:v>
                </c:pt>
                <c:pt idx="319">
                  <c:v>44914</c:v>
                </c:pt>
                <c:pt idx="320">
                  <c:v>44915</c:v>
                </c:pt>
                <c:pt idx="321">
                  <c:v>44916</c:v>
                </c:pt>
                <c:pt idx="322">
                  <c:v>44917</c:v>
                </c:pt>
                <c:pt idx="323">
                  <c:v>44918</c:v>
                </c:pt>
                <c:pt idx="324">
                  <c:v>44923</c:v>
                </c:pt>
                <c:pt idx="325">
                  <c:v>44924</c:v>
                </c:pt>
                <c:pt idx="326">
                  <c:v>44925</c:v>
                </c:pt>
                <c:pt idx="327">
                  <c:v>44929</c:v>
                </c:pt>
                <c:pt idx="328">
                  <c:v>44930</c:v>
                </c:pt>
                <c:pt idx="329">
                  <c:v>44931</c:v>
                </c:pt>
                <c:pt idx="330">
                  <c:v>44932</c:v>
                </c:pt>
                <c:pt idx="331">
                  <c:v>44935</c:v>
                </c:pt>
                <c:pt idx="332">
                  <c:v>44936</c:v>
                </c:pt>
                <c:pt idx="333">
                  <c:v>44937</c:v>
                </c:pt>
                <c:pt idx="334">
                  <c:v>44938</c:v>
                </c:pt>
                <c:pt idx="335">
                  <c:v>44939</c:v>
                </c:pt>
                <c:pt idx="336">
                  <c:v>44942</c:v>
                </c:pt>
                <c:pt idx="337">
                  <c:v>44943</c:v>
                </c:pt>
                <c:pt idx="338">
                  <c:v>44944</c:v>
                </c:pt>
                <c:pt idx="339">
                  <c:v>44945</c:v>
                </c:pt>
                <c:pt idx="340">
                  <c:v>44946</c:v>
                </c:pt>
                <c:pt idx="341">
                  <c:v>44949</c:v>
                </c:pt>
                <c:pt idx="342">
                  <c:v>44950</c:v>
                </c:pt>
                <c:pt idx="343">
                  <c:v>44951</c:v>
                </c:pt>
                <c:pt idx="344">
                  <c:v>44952</c:v>
                </c:pt>
                <c:pt idx="345">
                  <c:v>44953</c:v>
                </c:pt>
                <c:pt idx="346">
                  <c:v>44956</c:v>
                </c:pt>
                <c:pt idx="347">
                  <c:v>44957</c:v>
                </c:pt>
                <c:pt idx="348">
                  <c:v>44958</c:v>
                </c:pt>
                <c:pt idx="349">
                  <c:v>44959</c:v>
                </c:pt>
                <c:pt idx="350">
                  <c:v>44960</c:v>
                </c:pt>
                <c:pt idx="351">
                  <c:v>44963</c:v>
                </c:pt>
                <c:pt idx="352">
                  <c:v>44964</c:v>
                </c:pt>
                <c:pt idx="353">
                  <c:v>44965</c:v>
                </c:pt>
                <c:pt idx="354">
                  <c:v>44966</c:v>
                </c:pt>
                <c:pt idx="355">
                  <c:v>44967</c:v>
                </c:pt>
                <c:pt idx="356">
                  <c:v>44970</c:v>
                </c:pt>
                <c:pt idx="357">
                  <c:v>44971</c:v>
                </c:pt>
                <c:pt idx="358">
                  <c:v>44972</c:v>
                </c:pt>
                <c:pt idx="359">
                  <c:v>44973</c:v>
                </c:pt>
                <c:pt idx="360">
                  <c:v>44974</c:v>
                </c:pt>
                <c:pt idx="361">
                  <c:v>44978</c:v>
                </c:pt>
                <c:pt idx="362">
                  <c:v>44979</c:v>
                </c:pt>
                <c:pt idx="363">
                  <c:v>44980</c:v>
                </c:pt>
                <c:pt idx="364">
                  <c:v>44981</c:v>
                </c:pt>
                <c:pt idx="365">
                  <c:v>44984</c:v>
                </c:pt>
                <c:pt idx="366">
                  <c:v>44985</c:v>
                </c:pt>
                <c:pt idx="367">
                  <c:v>44986</c:v>
                </c:pt>
                <c:pt idx="368">
                  <c:v>44987</c:v>
                </c:pt>
                <c:pt idx="369">
                  <c:v>44988</c:v>
                </c:pt>
                <c:pt idx="370">
                  <c:v>44991</c:v>
                </c:pt>
                <c:pt idx="371">
                  <c:v>44992</c:v>
                </c:pt>
                <c:pt idx="372">
                  <c:v>44993</c:v>
                </c:pt>
                <c:pt idx="373">
                  <c:v>44994</c:v>
                </c:pt>
                <c:pt idx="374">
                  <c:v>44995</c:v>
                </c:pt>
                <c:pt idx="375">
                  <c:v>44998</c:v>
                </c:pt>
                <c:pt idx="376">
                  <c:v>44999</c:v>
                </c:pt>
                <c:pt idx="377">
                  <c:v>45000</c:v>
                </c:pt>
                <c:pt idx="378">
                  <c:v>45001</c:v>
                </c:pt>
                <c:pt idx="379">
                  <c:v>45002</c:v>
                </c:pt>
                <c:pt idx="380">
                  <c:v>45005</c:v>
                </c:pt>
                <c:pt idx="381">
                  <c:v>45006</c:v>
                </c:pt>
                <c:pt idx="382">
                  <c:v>45007</c:v>
                </c:pt>
                <c:pt idx="383">
                  <c:v>45008</c:v>
                </c:pt>
                <c:pt idx="384">
                  <c:v>45009</c:v>
                </c:pt>
                <c:pt idx="385">
                  <c:v>45012</c:v>
                </c:pt>
                <c:pt idx="386">
                  <c:v>45013</c:v>
                </c:pt>
                <c:pt idx="387">
                  <c:v>45014</c:v>
                </c:pt>
                <c:pt idx="388">
                  <c:v>45015</c:v>
                </c:pt>
                <c:pt idx="389">
                  <c:v>45016</c:v>
                </c:pt>
                <c:pt idx="390">
                  <c:v>45019</c:v>
                </c:pt>
                <c:pt idx="391">
                  <c:v>45020</c:v>
                </c:pt>
                <c:pt idx="392">
                  <c:v>45021</c:v>
                </c:pt>
                <c:pt idx="393">
                  <c:v>45022</c:v>
                </c:pt>
                <c:pt idx="394">
                  <c:v>45026</c:v>
                </c:pt>
                <c:pt idx="395">
                  <c:v>45027</c:v>
                </c:pt>
                <c:pt idx="396">
                  <c:v>45028</c:v>
                </c:pt>
                <c:pt idx="397">
                  <c:v>45029</c:v>
                </c:pt>
                <c:pt idx="398">
                  <c:v>45030</c:v>
                </c:pt>
                <c:pt idx="399">
                  <c:v>45033</c:v>
                </c:pt>
                <c:pt idx="400">
                  <c:v>45034</c:v>
                </c:pt>
                <c:pt idx="401">
                  <c:v>45035</c:v>
                </c:pt>
                <c:pt idx="402">
                  <c:v>45036</c:v>
                </c:pt>
                <c:pt idx="403">
                  <c:v>45037</c:v>
                </c:pt>
                <c:pt idx="404">
                  <c:v>45040</c:v>
                </c:pt>
                <c:pt idx="405">
                  <c:v>45041</c:v>
                </c:pt>
                <c:pt idx="406">
                  <c:v>45042</c:v>
                </c:pt>
                <c:pt idx="407">
                  <c:v>45043</c:v>
                </c:pt>
                <c:pt idx="408">
                  <c:v>45044</c:v>
                </c:pt>
                <c:pt idx="409">
                  <c:v>45047</c:v>
                </c:pt>
                <c:pt idx="410">
                  <c:v>45048</c:v>
                </c:pt>
                <c:pt idx="411">
                  <c:v>45049</c:v>
                </c:pt>
                <c:pt idx="412">
                  <c:v>45050</c:v>
                </c:pt>
                <c:pt idx="413">
                  <c:v>45051</c:v>
                </c:pt>
                <c:pt idx="414">
                  <c:v>45054</c:v>
                </c:pt>
                <c:pt idx="415">
                  <c:v>45055</c:v>
                </c:pt>
                <c:pt idx="416">
                  <c:v>45056</c:v>
                </c:pt>
                <c:pt idx="417">
                  <c:v>45057</c:v>
                </c:pt>
                <c:pt idx="418">
                  <c:v>45058</c:v>
                </c:pt>
                <c:pt idx="419">
                  <c:v>45061</c:v>
                </c:pt>
                <c:pt idx="420">
                  <c:v>45062</c:v>
                </c:pt>
                <c:pt idx="421">
                  <c:v>45063</c:v>
                </c:pt>
                <c:pt idx="422">
                  <c:v>45064</c:v>
                </c:pt>
                <c:pt idx="423">
                  <c:v>45065</c:v>
                </c:pt>
                <c:pt idx="424">
                  <c:v>45069</c:v>
                </c:pt>
                <c:pt idx="425">
                  <c:v>45070</c:v>
                </c:pt>
                <c:pt idx="426">
                  <c:v>45071</c:v>
                </c:pt>
                <c:pt idx="427">
                  <c:v>45072</c:v>
                </c:pt>
                <c:pt idx="428">
                  <c:v>45075</c:v>
                </c:pt>
                <c:pt idx="429">
                  <c:v>45076</c:v>
                </c:pt>
                <c:pt idx="430">
                  <c:v>45077</c:v>
                </c:pt>
                <c:pt idx="431">
                  <c:v>45078</c:v>
                </c:pt>
                <c:pt idx="432">
                  <c:v>45079</c:v>
                </c:pt>
                <c:pt idx="433">
                  <c:v>45082</c:v>
                </c:pt>
                <c:pt idx="434">
                  <c:v>45083</c:v>
                </c:pt>
                <c:pt idx="435">
                  <c:v>45084</c:v>
                </c:pt>
                <c:pt idx="436">
                  <c:v>45085</c:v>
                </c:pt>
                <c:pt idx="437">
                  <c:v>45086</c:v>
                </c:pt>
                <c:pt idx="438">
                  <c:v>45089</c:v>
                </c:pt>
                <c:pt idx="439">
                  <c:v>45090</c:v>
                </c:pt>
                <c:pt idx="440">
                  <c:v>45091</c:v>
                </c:pt>
                <c:pt idx="441">
                  <c:v>45092</c:v>
                </c:pt>
                <c:pt idx="442">
                  <c:v>45093</c:v>
                </c:pt>
                <c:pt idx="443">
                  <c:v>45096</c:v>
                </c:pt>
                <c:pt idx="444">
                  <c:v>45097</c:v>
                </c:pt>
                <c:pt idx="445">
                  <c:v>45098</c:v>
                </c:pt>
                <c:pt idx="446">
                  <c:v>45099</c:v>
                </c:pt>
                <c:pt idx="447">
                  <c:v>45100</c:v>
                </c:pt>
                <c:pt idx="448">
                  <c:v>45103</c:v>
                </c:pt>
                <c:pt idx="449">
                  <c:v>45104</c:v>
                </c:pt>
                <c:pt idx="450">
                  <c:v>45105</c:v>
                </c:pt>
                <c:pt idx="451">
                  <c:v>45106</c:v>
                </c:pt>
                <c:pt idx="452">
                  <c:v>45107</c:v>
                </c:pt>
                <c:pt idx="453">
                  <c:v>45111</c:v>
                </c:pt>
                <c:pt idx="454">
                  <c:v>45112</c:v>
                </c:pt>
                <c:pt idx="455">
                  <c:v>45113</c:v>
                </c:pt>
                <c:pt idx="456">
                  <c:v>45114</c:v>
                </c:pt>
                <c:pt idx="457">
                  <c:v>45117</c:v>
                </c:pt>
                <c:pt idx="458">
                  <c:v>45118</c:v>
                </c:pt>
                <c:pt idx="459">
                  <c:v>45119</c:v>
                </c:pt>
                <c:pt idx="460">
                  <c:v>45120</c:v>
                </c:pt>
                <c:pt idx="461">
                  <c:v>45121</c:v>
                </c:pt>
                <c:pt idx="462">
                  <c:v>45124</c:v>
                </c:pt>
                <c:pt idx="463">
                  <c:v>45125</c:v>
                </c:pt>
                <c:pt idx="464">
                  <c:v>45126</c:v>
                </c:pt>
                <c:pt idx="465">
                  <c:v>45127</c:v>
                </c:pt>
                <c:pt idx="466">
                  <c:v>45128</c:v>
                </c:pt>
                <c:pt idx="467">
                  <c:v>45131</c:v>
                </c:pt>
                <c:pt idx="468">
                  <c:v>45132</c:v>
                </c:pt>
                <c:pt idx="469">
                  <c:v>45133</c:v>
                </c:pt>
                <c:pt idx="470">
                  <c:v>45134</c:v>
                </c:pt>
                <c:pt idx="471">
                  <c:v>45135</c:v>
                </c:pt>
                <c:pt idx="472">
                  <c:v>45138</c:v>
                </c:pt>
                <c:pt idx="473">
                  <c:v>45139</c:v>
                </c:pt>
                <c:pt idx="474">
                  <c:v>45140</c:v>
                </c:pt>
                <c:pt idx="475">
                  <c:v>45141</c:v>
                </c:pt>
                <c:pt idx="476">
                  <c:v>45142</c:v>
                </c:pt>
                <c:pt idx="477">
                  <c:v>45146</c:v>
                </c:pt>
                <c:pt idx="478">
                  <c:v>45147</c:v>
                </c:pt>
                <c:pt idx="479">
                  <c:v>45148</c:v>
                </c:pt>
                <c:pt idx="480">
                  <c:v>45149</c:v>
                </c:pt>
                <c:pt idx="481">
                  <c:v>45152</c:v>
                </c:pt>
                <c:pt idx="482">
                  <c:v>45153</c:v>
                </c:pt>
                <c:pt idx="483">
                  <c:v>45154</c:v>
                </c:pt>
                <c:pt idx="484">
                  <c:v>45155</c:v>
                </c:pt>
                <c:pt idx="485">
                  <c:v>45156</c:v>
                </c:pt>
                <c:pt idx="486">
                  <c:v>45159</c:v>
                </c:pt>
                <c:pt idx="487">
                  <c:v>45160</c:v>
                </c:pt>
                <c:pt idx="488">
                  <c:v>45161</c:v>
                </c:pt>
                <c:pt idx="489">
                  <c:v>45162</c:v>
                </c:pt>
                <c:pt idx="490">
                  <c:v>45163</c:v>
                </c:pt>
                <c:pt idx="491">
                  <c:v>45166</c:v>
                </c:pt>
                <c:pt idx="492">
                  <c:v>45167</c:v>
                </c:pt>
                <c:pt idx="493">
                  <c:v>45168</c:v>
                </c:pt>
                <c:pt idx="494">
                  <c:v>45169</c:v>
                </c:pt>
                <c:pt idx="495">
                  <c:v>45170</c:v>
                </c:pt>
                <c:pt idx="496">
                  <c:v>45174</c:v>
                </c:pt>
                <c:pt idx="497">
                  <c:v>45175</c:v>
                </c:pt>
                <c:pt idx="498">
                  <c:v>45176</c:v>
                </c:pt>
                <c:pt idx="499">
                  <c:v>45177</c:v>
                </c:pt>
                <c:pt idx="500">
                  <c:v>45180</c:v>
                </c:pt>
                <c:pt idx="501">
                  <c:v>45181</c:v>
                </c:pt>
              </c:numCache>
            </c:numRef>
          </c:cat>
          <c:val>
            <c:numRef>
              <c:f>'ATZ Stock Price'!$B$2:$B$503</c:f>
              <c:numCache>
                <c:formatCode>"$"#,##0.00_);[Red]\("$"#,##0.00\)</c:formatCode>
                <c:ptCount val="502"/>
                <c:pt idx="0">
                  <c:v>41.57</c:v>
                </c:pt>
                <c:pt idx="1">
                  <c:v>42.009998000000003</c:v>
                </c:pt>
                <c:pt idx="2">
                  <c:v>42.259998000000003</c:v>
                </c:pt>
                <c:pt idx="3">
                  <c:v>43.110000999999997</c:v>
                </c:pt>
                <c:pt idx="4">
                  <c:v>42.5</c:v>
                </c:pt>
                <c:pt idx="5">
                  <c:v>41.98</c:v>
                </c:pt>
                <c:pt idx="6">
                  <c:v>42.25</c:v>
                </c:pt>
                <c:pt idx="7">
                  <c:v>42.830002</c:v>
                </c:pt>
                <c:pt idx="8">
                  <c:v>42.880001</c:v>
                </c:pt>
                <c:pt idx="9">
                  <c:v>42.610000999999997</c:v>
                </c:pt>
                <c:pt idx="10">
                  <c:v>42.75</c:v>
                </c:pt>
                <c:pt idx="11">
                  <c:v>42.27</c:v>
                </c:pt>
                <c:pt idx="12">
                  <c:v>40.869999</c:v>
                </c:pt>
                <c:pt idx="13">
                  <c:v>40.32</c:v>
                </c:pt>
                <c:pt idx="14">
                  <c:v>40.810001</c:v>
                </c:pt>
                <c:pt idx="15">
                  <c:v>40.830002</c:v>
                </c:pt>
                <c:pt idx="16">
                  <c:v>41.529998999999997</c:v>
                </c:pt>
                <c:pt idx="17">
                  <c:v>41.580002</c:v>
                </c:pt>
                <c:pt idx="18">
                  <c:v>42.02</c:v>
                </c:pt>
                <c:pt idx="19">
                  <c:v>42.150002000000001</c:v>
                </c:pt>
                <c:pt idx="20">
                  <c:v>40.130001</c:v>
                </c:pt>
                <c:pt idx="21">
                  <c:v>40.540000999999997</c:v>
                </c:pt>
                <c:pt idx="22">
                  <c:v>47.5</c:v>
                </c:pt>
                <c:pt idx="23">
                  <c:v>48.23</c:v>
                </c:pt>
                <c:pt idx="24">
                  <c:v>50.32</c:v>
                </c:pt>
                <c:pt idx="25">
                  <c:v>49.66</c:v>
                </c:pt>
                <c:pt idx="26">
                  <c:v>49.5</c:v>
                </c:pt>
                <c:pt idx="27">
                  <c:v>49.439999</c:v>
                </c:pt>
                <c:pt idx="28">
                  <c:v>49.59</c:v>
                </c:pt>
                <c:pt idx="29">
                  <c:v>49.290000999999997</c:v>
                </c:pt>
                <c:pt idx="30">
                  <c:v>48.450001</c:v>
                </c:pt>
                <c:pt idx="31">
                  <c:v>48.43</c:v>
                </c:pt>
                <c:pt idx="32">
                  <c:v>49.220001000000003</c:v>
                </c:pt>
                <c:pt idx="33">
                  <c:v>48.740001999999997</c:v>
                </c:pt>
                <c:pt idx="34">
                  <c:v>49.43</c:v>
                </c:pt>
                <c:pt idx="35">
                  <c:v>49.32</c:v>
                </c:pt>
                <c:pt idx="36">
                  <c:v>48.720001000000003</c:v>
                </c:pt>
                <c:pt idx="37">
                  <c:v>48.799999</c:v>
                </c:pt>
                <c:pt idx="38">
                  <c:v>49.119999</c:v>
                </c:pt>
                <c:pt idx="39">
                  <c:v>49.119999</c:v>
                </c:pt>
                <c:pt idx="40">
                  <c:v>51.07</c:v>
                </c:pt>
                <c:pt idx="41">
                  <c:v>50.709999000000003</c:v>
                </c:pt>
                <c:pt idx="42">
                  <c:v>51.450001</c:v>
                </c:pt>
                <c:pt idx="43">
                  <c:v>52.459999000000003</c:v>
                </c:pt>
                <c:pt idx="44">
                  <c:v>52.900002000000001</c:v>
                </c:pt>
                <c:pt idx="45">
                  <c:v>52.639999000000003</c:v>
                </c:pt>
                <c:pt idx="46">
                  <c:v>51.869999</c:v>
                </c:pt>
                <c:pt idx="47">
                  <c:v>52.709999000000003</c:v>
                </c:pt>
                <c:pt idx="48">
                  <c:v>52.650002000000001</c:v>
                </c:pt>
                <c:pt idx="49">
                  <c:v>52.110000999999997</c:v>
                </c:pt>
                <c:pt idx="50">
                  <c:v>51.790000999999997</c:v>
                </c:pt>
                <c:pt idx="51">
                  <c:v>51.75</c:v>
                </c:pt>
                <c:pt idx="52">
                  <c:v>51.580002</c:v>
                </c:pt>
                <c:pt idx="53">
                  <c:v>50.529998999999997</c:v>
                </c:pt>
                <c:pt idx="54">
                  <c:v>51.700001</c:v>
                </c:pt>
                <c:pt idx="55">
                  <c:v>50.619999</c:v>
                </c:pt>
                <c:pt idx="56">
                  <c:v>49.810001</c:v>
                </c:pt>
                <c:pt idx="57">
                  <c:v>50.150002000000001</c:v>
                </c:pt>
                <c:pt idx="58">
                  <c:v>49.220001000000003</c:v>
                </c:pt>
                <c:pt idx="59">
                  <c:v>49.919998</c:v>
                </c:pt>
                <c:pt idx="60">
                  <c:v>51.759998000000003</c:v>
                </c:pt>
                <c:pt idx="61">
                  <c:v>51.389999000000003</c:v>
                </c:pt>
                <c:pt idx="62">
                  <c:v>50.919998</c:v>
                </c:pt>
                <c:pt idx="63">
                  <c:v>51.299999</c:v>
                </c:pt>
                <c:pt idx="64">
                  <c:v>50.41</c:v>
                </c:pt>
                <c:pt idx="65">
                  <c:v>49.84</c:v>
                </c:pt>
                <c:pt idx="66">
                  <c:v>50.450001</c:v>
                </c:pt>
                <c:pt idx="67">
                  <c:v>50.73</c:v>
                </c:pt>
                <c:pt idx="68">
                  <c:v>49.75</c:v>
                </c:pt>
                <c:pt idx="69">
                  <c:v>49.139999000000003</c:v>
                </c:pt>
                <c:pt idx="70">
                  <c:v>49.860000999999997</c:v>
                </c:pt>
                <c:pt idx="71">
                  <c:v>50.279998999999997</c:v>
                </c:pt>
                <c:pt idx="72">
                  <c:v>50.400002000000001</c:v>
                </c:pt>
                <c:pt idx="73">
                  <c:v>50.549999</c:v>
                </c:pt>
                <c:pt idx="74">
                  <c:v>51.639999000000003</c:v>
                </c:pt>
                <c:pt idx="75">
                  <c:v>52.200001</c:v>
                </c:pt>
                <c:pt idx="76">
                  <c:v>52.349997999999999</c:v>
                </c:pt>
                <c:pt idx="77">
                  <c:v>52.880001</c:v>
                </c:pt>
                <c:pt idx="78">
                  <c:v>51.150002000000001</c:v>
                </c:pt>
                <c:pt idx="79">
                  <c:v>51.18</c:v>
                </c:pt>
                <c:pt idx="80">
                  <c:v>50.310001</c:v>
                </c:pt>
                <c:pt idx="81">
                  <c:v>48.040000999999997</c:v>
                </c:pt>
                <c:pt idx="82">
                  <c:v>50.040000999999997</c:v>
                </c:pt>
                <c:pt idx="83">
                  <c:v>49.509998000000003</c:v>
                </c:pt>
                <c:pt idx="84">
                  <c:v>58.869999</c:v>
                </c:pt>
                <c:pt idx="85">
                  <c:v>59.75</c:v>
                </c:pt>
                <c:pt idx="86">
                  <c:v>58.549999</c:v>
                </c:pt>
                <c:pt idx="87">
                  <c:v>57.720001000000003</c:v>
                </c:pt>
                <c:pt idx="88">
                  <c:v>57.580002</c:v>
                </c:pt>
                <c:pt idx="89">
                  <c:v>55.330002</c:v>
                </c:pt>
                <c:pt idx="90">
                  <c:v>54.48</c:v>
                </c:pt>
                <c:pt idx="91">
                  <c:v>53.880001</c:v>
                </c:pt>
                <c:pt idx="92">
                  <c:v>55.310001</c:v>
                </c:pt>
                <c:pt idx="93">
                  <c:v>56.98</c:v>
                </c:pt>
                <c:pt idx="94">
                  <c:v>56.889999000000003</c:v>
                </c:pt>
                <c:pt idx="95">
                  <c:v>58.130001</c:v>
                </c:pt>
                <c:pt idx="96">
                  <c:v>58.970001000000003</c:v>
                </c:pt>
                <c:pt idx="97">
                  <c:v>57.509998000000003</c:v>
                </c:pt>
                <c:pt idx="98">
                  <c:v>57.490001999999997</c:v>
                </c:pt>
                <c:pt idx="99">
                  <c:v>57.73</c:v>
                </c:pt>
                <c:pt idx="100">
                  <c:v>57.75</c:v>
                </c:pt>
                <c:pt idx="101">
                  <c:v>58.360000999999997</c:v>
                </c:pt>
                <c:pt idx="102">
                  <c:v>57.619999</c:v>
                </c:pt>
                <c:pt idx="103">
                  <c:v>57.93</c:v>
                </c:pt>
                <c:pt idx="104">
                  <c:v>57.689999</c:v>
                </c:pt>
                <c:pt idx="105">
                  <c:v>55.93</c:v>
                </c:pt>
                <c:pt idx="106">
                  <c:v>56.099997999999999</c:v>
                </c:pt>
                <c:pt idx="107">
                  <c:v>56.189999</c:v>
                </c:pt>
                <c:pt idx="108">
                  <c:v>56.119999</c:v>
                </c:pt>
                <c:pt idx="109">
                  <c:v>55.43</c:v>
                </c:pt>
                <c:pt idx="110">
                  <c:v>54.16</c:v>
                </c:pt>
                <c:pt idx="111">
                  <c:v>53.360000999999997</c:v>
                </c:pt>
                <c:pt idx="112">
                  <c:v>49.43</c:v>
                </c:pt>
                <c:pt idx="113">
                  <c:v>48.549999</c:v>
                </c:pt>
                <c:pt idx="114">
                  <c:v>49.279998999999997</c:v>
                </c:pt>
                <c:pt idx="115">
                  <c:v>48.189999</c:v>
                </c:pt>
                <c:pt idx="116">
                  <c:v>46.650002000000001</c:v>
                </c:pt>
                <c:pt idx="117">
                  <c:v>47.220001000000003</c:v>
                </c:pt>
                <c:pt idx="118">
                  <c:v>45.759998000000003</c:v>
                </c:pt>
                <c:pt idx="119">
                  <c:v>44.349997999999999</c:v>
                </c:pt>
                <c:pt idx="120">
                  <c:v>42.09</c:v>
                </c:pt>
                <c:pt idx="121">
                  <c:v>42</c:v>
                </c:pt>
                <c:pt idx="122">
                  <c:v>45.389999000000003</c:v>
                </c:pt>
                <c:pt idx="123">
                  <c:v>45.099997999999999</c:v>
                </c:pt>
                <c:pt idx="124">
                  <c:v>43.450001</c:v>
                </c:pt>
                <c:pt idx="125">
                  <c:v>45</c:v>
                </c:pt>
                <c:pt idx="126">
                  <c:v>45.490001999999997</c:v>
                </c:pt>
                <c:pt idx="127">
                  <c:v>47.540000999999997</c:v>
                </c:pt>
                <c:pt idx="128">
                  <c:v>47.650002000000001</c:v>
                </c:pt>
                <c:pt idx="129">
                  <c:v>49.25</c:v>
                </c:pt>
                <c:pt idx="130">
                  <c:v>48.52</c:v>
                </c:pt>
                <c:pt idx="131">
                  <c:v>49.990001999999997</c:v>
                </c:pt>
                <c:pt idx="132">
                  <c:v>49.27</c:v>
                </c:pt>
                <c:pt idx="133">
                  <c:v>49.09</c:v>
                </c:pt>
                <c:pt idx="134">
                  <c:v>47.799999</c:v>
                </c:pt>
                <c:pt idx="135">
                  <c:v>47.650002000000001</c:v>
                </c:pt>
                <c:pt idx="136">
                  <c:v>48.779998999999997</c:v>
                </c:pt>
                <c:pt idx="137">
                  <c:v>51</c:v>
                </c:pt>
                <c:pt idx="138">
                  <c:v>51.029998999999997</c:v>
                </c:pt>
                <c:pt idx="139">
                  <c:v>47.599997999999999</c:v>
                </c:pt>
                <c:pt idx="140">
                  <c:v>48.759998000000003</c:v>
                </c:pt>
                <c:pt idx="141">
                  <c:v>47.18</c:v>
                </c:pt>
                <c:pt idx="142">
                  <c:v>45.66</c:v>
                </c:pt>
                <c:pt idx="143">
                  <c:v>47.040000999999997</c:v>
                </c:pt>
                <c:pt idx="144">
                  <c:v>47</c:v>
                </c:pt>
                <c:pt idx="145">
                  <c:v>45.740001999999997</c:v>
                </c:pt>
                <c:pt idx="146">
                  <c:v>45.57</c:v>
                </c:pt>
                <c:pt idx="147">
                  <c:v>45.98</c:v>
                </c:pt>
                <c:pt idx="148">
                  <c:v>44.98</c:v>
                </c:pt>
                <c:pt idx="149">
                  <c:v>45.040000999999997</c:v>
                </c:pt>
                <c:pt idx="150">
                  <c:v>47.279998999999997</c:v>
                </c:pt>
                <c:pt idx="151">
                  <c:v>47.419998</c:v>
                </c:pt>
                <c:pt idx="152">
                  <c:v>46.5</c:v>
                </c:pt>
                <c:pt idx="153">
                  <c:v>45.32</c:v>
                </c:pt>
                <c:pt idx="154">
                  <c:v>46</c:v>
                </c:pt>
                <c:pt idx="155">
                  <c:v>43.450001</c:v>
                </c:pt>
                <c:pt idx="156">
                  <c:v>44.009998000000003</c:v>
                </c:pt>
                <c:pt idx="157">
                  <c:v>44.689999</c:v>
                </c:pt>
                <c:pt idx="158">
                  <c:v>45.75</c:v>
                </c:pt>
                <c:pt idx="159">
                  <c:v>45.490001999999997</c:v>
                </c:pt>
                <c:pt idx="160">
                  <c:v>46.119999</c:v>
                </c:pt>
                <c:pt idx="161">
                  <c:v>45.869999</c:v>
                </c:pt>
                <c:pt idx="162">
                  <c:v>42.66</c:v>
                </c:pt>
                <c:pt idx="163">
                  <c:v>39.799999</c:v>
                </c:pt>
                <c:pt idx="164">
                  <c:v>37.380001</c:v>
                </c:pt>
                <c:pt idx="165">
                  <c:v>37.43</c:v>
                </c:pt>
                <c:pt idx="166">
                  <c:v>35.979999999999997</c:v>
                </c:pt>
                <c:pt idx="167">
                  <c:v>37.060001</c:v>
                </c:pt>
                <c:pt idx="168">
                  <c:v>38.540000999999997</c:v>
                </c:pt>
                <c:pt idx="169">
                  <c:v>38.389999000000003</c:v>
                </c:pt>
                <c:pt idx="170">
                  <c:v>38.860000999999997</c:v>
                </c:pt>
                <c:pt idx="171">
                  <c:v>36.659999999999997</c:v>
                </c:pt>
                <c:pt idx="172">
                  <c:v>36.93</c:v>
                </c:pt>
                <c:pt idx="173">
                  <c:v>37.700001</c:v>
                </c:pt>
                <c:pt idx="174">
                  <c:v>35.810001</c:v>
                </c:pt>
                <c:pt idx="175">
                  <c:v>35.470001000000003</c:v>
                </c:pt>
                <c:pt idx="176">
                  <c:v>36.529998999999997</c:v>
                </c:pt>
                <c:pt idx="177">
                  <c:v>37.270000000000003</c:v>
                </c:pt>
                <c:pt idx="178">
                  <c:v>37.409999999999997</c:v>
                </c:pt>
                <c:pt idx="179">
                  <c:v>36.919998</c:v>
                </c:pt>
                <c:pt idx="180">
                  <c:v>37.659999999999997</c:v>
                </c:pt>
                <c:pt idx="181">
                  <c:v>38.369999</c:v>
                </c:pt>
                <c:pt idx="182">
                  <c:v>38.209999000000003</c:v>
                </c:pt>
                <c:pt idx="183">
                  <c:v>38.610000999999997</c:v>
                </c:pt>
                <c:pt idx="184">
                  <c:v>37.43</c:v>
                </c:pt>
                <c:pt idx="185">
                  <c:v>37.299999</c:v>
                </c:pt>
                <c:pt idx="186">
                  <c:v>37.25</c:v>
                </c:pt>
                <c:pt idx="187">
                  <c:v>35.75</c:v>
                </c:pt>
                <c:pt idx="188">
                  <c:v>34.779998999999997</c:v>
                </c:pt>
                <c:pt idx="189">
                  <c:v>33.990001999999997</c:v>
                </c:pt>
                <c:pt idx="190">
                  <c:v>34.159999999999997</c:v>
                </c:pt>
                <c:pt idx="191">
                  <c:v>33.040000999999997</c:v>
                </c:pt>
                <c:pt idx="192">
                  <c:v>32.849997999999999</c:v>
                </c:pt>
                <c:pt idx="193">
                  <c:v>33.669998</c:v>
                </c:pt>
                <c:pt idx="194">
                  <c:v>33.880001</c:v>
                </c:pt>
                <c:pt idx="195">
                  <c:v>33.639999000000003</c:v>
                </c:pt>
                <c:pt idx="196">
                  <c:v>33.57</c:v>
                </c:pt>
                <c:pt idx="197">
                  <c:v>34.900002000000001</c:v>
                </c:pt>
                <c:pt idx="198">
                  <c:v>35.790000999999997</c:v>
                </c:pt>
                <c:pt idx="199">
                  <c:v>35.590000000000003</c:v>
                </c:pt>
                <c:pt idx="200">
                  <c:v>34.979999999999997</c:v>
                </c:pt>
                <c:pt idx="201">
                  <c:v>34.849997999999999</c:v>
                </c:pt>
                <c:pt idx="202">
                  <c:v>34.360000999999997</c:v>
                </c:pt>
                <c:pt idx="203">
                  <c:v>34.009998000000003</c:v>
                </c:pt>
                <c:pt idx="204">
                  <c:v>33.639999000000003</c:v>
                </c:pt>
                <c:pt idx="205">
                  <c:v>36.189999</c:v>
                </c:pt>
                <c:pt idx="206">
                  <c:v>37.700001</c:v>
                </c:pt>
                <c:pt idx="207">
                  <c:v>35.979999999999997</c:v>
                </c:pt>
                <c:pt idx="208">
                  <c:v>35.650002000000001</c:v>
                </c:pt>
                <c:pt idx="209">
                  <c:v>35.57</c:v>
                </c:pt>
                <c:pt idx="210">
                  <c:v>34.139999000000003</c:v>
                </c:pt>
                <c:pt idx="211">
                  <c:v>33.729999999999997</c:v>
                </c:pt>
                <c:pt idx="212">
                  <c:v>35.860000999999997</c:v>
                </c:pt>
                <c:pt idx="213">
                  <c:v>37.18</c:v>
                </c:pt>
                <c:pt idx="214">
                  <c:v>38.720001000000003</c:v>
                </c:pt>
                <c:pt idx="215">
                  <c:v>39.630001</c:v>
                </c:pt>
                <c:pt idx="216">
                  <c:v>38.590000000000003</c:v>
                </c:pt>
                <c:pt idx="217">
                  <c:v>38.369999</c:v>
                </c:pt>
                <c:pt idx="218">
                  <c:v>35.950001</c:v>
                </c:pt>
                <c:pt idx="219">
                  <c:v>36.389999000000003</c:v>
                </c:pt>
                <c:pt idx="220">
                  <c:v>38.639999000000003</c:v>
                </c:pt>
                <c:pt idx="221">
                  <c:v>40.400002000000001</c:v>
                </c:pt>
                <c:pt idx="222">
                  <c:v>39.099997999999999</c:v>
                </c:pt>
                <c:pt idx="223">
                  <c:v>41.150002000000001</c:v>
                </c:pt>
                <c:pt idx="224">
                  <c:v>41.150002000000001</c:v>
                </c:pt>
                <c:pt idx="225">
                  <c:v>41.43</c:v>
                </c:pt>
                <c:pt idx="226">
                  <c:v>42.639999000000003</c:v>
                </c:pt>
                <c:pt idx="227">
                  <c:v>42.419998</c:v>
                </c:pt>
                <c:pt idx="228">
                  <c:v>44.41</c:v>
                </c:pt>
                <c:pt idx="229">
                  <c:v>44.450001</c:v>
                </c:pt>
                <c:pt idx="230">
                  <c:v>44.02</c:v>
                </c:pt>
                <c:pt idx="231">
                  <c:v>44.709999000000003</c:v>
                </c:pt>
                <c:pt idx="232">
                  <c:v>45.130001</c:v>
                </c:pt>
                <c:pt idx="233">
                  <c:v>45.439999</c:v>
                </c:pt>
                <c:pt idx="234">
                  <c:v>45.880001</c:v>
                </c:pt>
                <c:pt idx="235">
                  <c:v>44.779998999999997</c:v>
                </c:pt>
                <c:pt idx="236">
                  <c:v>43.43</c:v>
                </c:pt>
                <c:pt idx="237">
                  <c:v>44.310001</c:v>
                </c:pt>
                <c:pt idx="238">
                  <c:v>44.369999</c:v>
                </c:pt>
                <c:pt idx="239">
                  <c:v>45.02</c:v>
                </c:pt>
                <c:pt idx="240">
                  <c:v>42.59</c:v>
                </c:pt>
                <c:pt idx="241">
                  <c:v>43</c:v>
                </c:pt>
                <c:pt idx="242">
                  <c:v>42.639999000000003</c:v>
                </c:pt>
                <c:pt idx="243">
                  <c:v>42.720001000000003</c:v>
                </c:pt>
                <c:pt idx="244">
                  <c:v>41.900002000000001</c:v>
                </c:pt>
                <c:pt idx="245">
                  <c:v>43.700001</c:v>
                </c:pt>
                <c:pt idx="246">
                  <c:v>42.549999</c:v>
                </c:pt>
                <c:pt idx="247">
                  <c:v>44.110000999999997</c:v>
                </c:pt>
                <c:pt idx="248">
                  <c:v>45.669998</c:v>
                </c:pt>
                <c:pt idx="249">
                  <c:v>47.669998</c:v>
                </c:pt>
                <c:pt idx="250">
                  <c:v>50.029998999999997</c:v>
                </c:pt>
                <c:pt idx="251">
                  <c:v>48.84</c:v>
                </c:pt>
                <c:pt idx="252">
                  <c:v>48.84</c:v>
                </c:pt>
                <c:pt idx="253">
                  <c:v>47.310001</c:v>
                </c:pt>
                <c:pt idx="254">
                  <c:v>46.990001999999997</c:v>
                </c:pt>
                <c:pt idx="255">
                  <c:v>46.52</c:v>
                </c:pt>
                <c:pt idx="256">
                  <c:v>46.419998</c:v>
                </c:pt>
                <c:pt idx="257">
                  <c:v>46.200001</c:v>
                </c:pt>
                <c:pt idx="258">
                  <c:v>45.380001</c:v>
                </c:pt>
                <c:pt idx="259">
                  <c:v>43.830002</c:v>
                </c:pt>
                <c:pt idx="260">
                  <c:v>44.810001</c:v>
                </c:pt>
                <c:pt idx="261">
                  <c:v>46.580002</c:v>
                </c:pt>
                <c:pt idx="262">
                  <c:v>47.040000999999997</c:v>
                </c:pt>
                <c:pt idx="263">
                  <c:v>45.299999</c:v>
                </c:pt>
                <c:pt idx="264">
                  <c:v>45.389999000000003</c:v>
                </c:pt>
                <c:pt idx="265">
                  <c:v>47.799999</c:v>
                </c:pt>
                <c:pt idx="266">
                  <c:v>48.549999</c:v>
                </c:pt>
                <c:pt idx="267">
                  <c:v>48.830002</c:v>
                </c:pt>
                <c:pt idx="268">
                  <c:v>48.380001</c:v>
                </c:pt>
                <c:pt idx="269">
                  <c:v>46.950001</c:v>
                </c:pt>
                <c:pt idx="270">
                  <c:v>45.650002000000001</c:v>
                </c:pt>
                <c:pt idx="271">
                  <c:v>48.619999</c:v>
                </c:pt>
                <c:pt idx="272">
                  <c:v>51.43</c:v>
                </c:pt>
                <c:pt idx="273">
                  <c:v>49.310001</c:v>
                </c:pt>
                <c:pt idx="274">
                  <c:v>50.439999</c:v>
                </c:pt>
                <c:pt idx="275">
                  <c:v>52.259998000000003</c:v>
                </c:pt>
                <c:pt idx="276">
                  <c:v>50.830002</c:v>
                </c:pt>
                <c:pt idx="277">
                  <c:v>50.419998</c:v>
                </c:pt>
                <c:pt idx="278">
                  <c:v>52.150002000000001</c:v>
                </c:pt>
                <c:pt idx="279">
                  <c:v>51.549999</c:v>
                </c:pt>
                <c:pt idx="280">
                  <c:v>52.93</c:v>
                </c:pt>
                <c:pt idx="281">
                  <c:v>54.049999</c:v>
                </c:pt>
                <c:pt idx="282">
                  <c:v>51.720001000000003</c:v>
                </c:pt>
                <c:pt idx="283">
                  <c:v>51.790000999999997</c:v>
                </c:pt>
                <c:pt idx="284">
                  <c:v>52.84</c:v>
                </c:pt>
                <c:pt idx="285">
                  <c:v>52.610000999999997</c:v>
                </c:pt>
                <c:pt idx="286">
                  <c:v>51.98</c:v>
                </c:pt>
                <c:pt idx="287">
                  <c:v>52</c:v>
                </c:pt>
                <c:pt idx="288">
                  <c:v>51.779998999999997</c:v>
                </c:pt>
                <c:pt idx="289">
                  <c:v>52.41</c:v>
                </c:pt>
                <c:pt idx="290">
                  <c:v>51.799999</c:v>
                </c:pt>
                <c:pt idx="291">
                  <c:v>51.349997999999999</c:v>
                </c:pt>
                <c:pt idx="292">
                  <c:v>54.209999000000003</c:v>
                </c:pt>
                <c:pt idx="293">
                  <c:v>54.080002</c:v>
                </c:pt>
                <c:pt idx="294">
                  <c:v>53.650002000000001</c:v>
                </c:pt>
                <c:pt idx="295">
                  <c:v>52.529998999999997</c:v>
                </c:pt>
                <c:pt idx="296">
                  <c:v>52.700001</c:v>
                </c:pt>
                <c:pt idx="297">
                  <c:v>50.23</c:v>
                </c:pt>
                <c:pt idx="298">
                  <c:v>51.009998000000003</c:v>
                </c:pt>
                <c:pt idx="299">
                  <c:v>50.740001999999997</c:v>
                </c:pt>
                <c:pt idx="300">
                  <c:v>51.41</c:v>
                </c:pt>
                <c:pt idx="301">
                  <c:v>51.5</c:v>
                </c:pt>
                <c:pt idx="302">
                  <c:v>51.66</c:v>
                </c:pt>
                <c:pt idx="303">
                  <c:v>51.369999</c:v>
                </c:pt>
                <c:pt idx="304">
                  <c:v>50.849997999999999</c:v>
                </c:pt>
                <c:pt idx="305">
                  <c:v>50.029998999999997</c:v>
                </c:pt>
                <c:pt idx="306">
                  <c:v>51.169998</c:v>
                </c:pt>
                <c:pt idx="307">
                  <c:v>51.419998</c:v>
                </c:pt>
                <c:pt idx="308">
                  <c:v>51.16</c:v>
                </c:pt>
                <c:pt idx="309">
                  <c:v>49.279998999999997</c:v>
                </c:pt>
                <c:pt idx="310">
                  <c:v>49.18</c:v>
                </c:pt>
                <c:pt idx="311">
                  <c:v>49.34</c:v>
                </c:pt>
                <c:pt idx="312">
                  <c:v>50.139999000000003</c:v>
                </c:pt>
                <c:pt idx="313">
                  <c:v>50.459999000000003</c:v>
                </c:pt>
                <c:pt idx="314">
                  <c:v>49.439999</c:v>
                </c:pt>
                <c:pt idx="315">
                  <c:v>49.560001</c:v>
                </c:pt>
                <c:pt idx="316">
                  <c:v>48.07</c:v>
                </c:pt>
                <c:pt idx="317">
                  <c:v>46.810001</c:v>
                </c:pt>
                <c:pt idx="318">
                  <c:v>46.209999000000003</c:v>
                </c:pt>
                <c:pt idx="319">
                  <c:v>45.099997999999999</c:v>
                </c:pt>
                <c:pt idx="320">
                  <c:v>44.919998</c:v>
                </c:pt>
                <c:pt idx="321">
                  <c:v>47.91</c:v>
                </c:pt>
                <c:pt idx="322">
                  <c:v>47.549999</c:v>
                </c:pt>
                <c:pt idx="323">
                  <c:v>47.32</c:v>
                </c:pt>
                <c:pt idx="324">
                  <c:v>47.860000999999997</c:v>
                </c:pt>
                <c:pt idx="325">
                  <c:v>47.049999</c:v>
                </c:pt>
                <c:pt idx="326">
                  <c:v>47.349997999999999</c:v>
                </c:pt>
                <c:pt idx="327">
                  <c:v>46.860000999999997</c:v>
                </c:pt>
                <c:pt idx="328">
                  <c:v>47.040000999999997</c:v>
                </c:pt>
                <c:pt idx="329">
                  <c:v>47.779998999999997</c:v>
                </c:pt>
                <c:pt idx="330">
                  <c:v>49.380001</c:v>
                </c:pt>
                <c:pt idx="331">
                  <c:v>49.889999000000003</c:v>
                </c:pt>
                <c:pt idx="332">
                  <c:v>50.25</c:v>
                </c:pt>
                <c:pt idx="333">
                  <c:v>51.220001000000003</c:v>
                </c:pt>
                <c:pt idx="334">
                  <c:v>46.16</c:v>
                </c:pt>
                <c:pt idx="335">
                  <c:v>45.82</c:v>
                </c:pt>
                <c:pt idx="336">
                  <c:v>45.029998999999997</c:v>
                </c:pt>
                <c:pt idx="337">
                  <c:v>46.41</c:v>
                </c:pt>
                <c:pt idx="338">
                  <c:v>44.950001</c:v>
                </c:pt>
                <c:pt idx="339">
                  <c:v>46.299999</c:v>
                </c:pt>
                <c:pt idx="340">
                  <c:v>46.419998</c:v>
                </c:pt>
                <c:pt idx="341">
                  <c:v>48.07</c:v>
                </c:pt>
                <c:pt idx="342">
                  <c:v>48.110000999999997</c:v>
                </c:pt>
                <c:pt idx="343">
                  <c:v>47.470001000000003</c:v>
                </c:pt>
                <c:pt idx="344">
                  <c:v>47.700001</c:v>
                </c:pt>
                <c:pt idx="345">
                  <c:v>47.330002</c:v>
                </c:pt>
                <c:pt idx="346">
                  <c:v>46.830002</c:v>
                </c:pt>
                <c:pt idx="347">
                  <c:v>47.990001999999997</c:v>
                </c:pt>
                <c:pt idx="348">
                  <c:v>48.34</c:v>
                </c:pt>
                <c:pt idx="349">
                  <c:v>47.720001000000003</c:v>
                </c:pt>
                <c:pt idx="350">
                  <c:v>47.389999000000003</c:v>
                </c:pt>
                <c:pt idx="351">
                  <c:v>46.720001000000003</c:v>
                </c:pt>
                <c:pt idx="352">
                  <c:v>46.549999</c:v>
                </c:pt>
                <c:pt idx="353">
                  <c:v>45.610000999999997</c:v>
                </c:pt>
                <c:pt idx="354">
                  <c:v>44.34</c:v>
                </c:pt>
                <c:pt idx="355">
                  <c:v>42.639999000000003</c:v>
                </c:pt>
                <c:pt idx="356">
                  <c:v>43.060001</c:v>
                </c:pt>
                <c:pt idx="357">
                  <c:v>43.459999000000003</c:v>
                </c:pt>
                <c:pt idx="358">
                  <c:v>43.82</c:v>
                </c:pt>
                <c:pt idx="359">
                  <c:v>45.209999000000003</c:v>
                </c:pt>
                <c:pt idx="360">
                  <c:v>44.77</c:v>
                </c:pt>
                <c:pt idx="361">
                  <c:v>42.950001</c:v>
                </c:pt>
                <c:pt idx="362">
                  <c:v>42.970001000000003</c:v>
                </c:pt>
                <c:pt idx="363">
                  <c:v>42.529998999999997</c:v>
                </c:pt>
                <c:pt idx="364">
                  <c:v>41.93</c:v>
                </c:pt>
                <c:pt idx="365">
                  <c:v>41.869999</c:v>
                </c:pt>
                <c:pt idx="366">
                  <c:v>41.540000999999997</c:v>
                </c:pt>
                <c:pt idx="367">
                  <c:v>41.43</c:v>
                </c:pt>
                <c:pt idx="368">
                  <c:v>41.150002000000001</c:v>
                </c:pt>
                <c:pt idx="369">
                  <c:v>41.700001</c:v>
                </c:pt>
                <c:pt idx="370">
                  <c:v>41.59</c:v>
                </c:pt>
                <c:pt idx="371">
                  <c:v>41.169998</c:v>
                </c:pt>
                <c:pt idx="372">
                  <c:v>40.729999999999997</c:v>
                </c:pt>
                <c:pt idx="373">
                  <c:v>41.290000999999997</c:v>
                </c:pt>
                <c:pt idx="374">
                  <c:v>40.240001999999997</c:v>
                </c:pt>
                <c:pt idx="375">
                  <c:v>40</c:v>
                </c:pt>
                <c:pt idx="376">
                  <c:v>40.520000000000003</c:v>
                </c:pt>
                <c:pt idx="377">
                  <c:v>39.029998999999997</c:v>
                </c:pt>
                <c:pt idx="378">
                  <c:v>41.040000999999997</c:v>
                </c:pt>
                <c:pt idx="379">
                  <c:v>41.220001000000003</c:v>
                </c:pt>
                <c:pt idx="380">
                  <c:v>40.509998000000003</c:v>
                </c:pt>
                <c:pt idx="381">
                  <c:v>40.090000000000003</c:v>
                </c:pt>
                <c:pt idx="382">
                  <c:v>39.950001</c:v>
                </c:pt>
                <c:pt idx="383">
                  <c:v>40.509998000000003</c:v>
                </c:pt>
                <c:pt idx="384">
                  <c:v>39.029998999999997</c:v>
                </c:pt>
                <c:pt idx="385">
                  <c:v>38.549999</c:v>
                </c:pt>
                <c:pt idx="386">
                  <c:v>39.200001</c:v>
                </c:pt>
                <c:pt idx="387">
                  <c:v>42.080002</c:v>
                </c:pt>
                <c:pt idx="388">
                  <c:v>42.540000999999997</c:v>
                </c:pt>
                <c:pt idx="389">
                  <c:v>43.369999</c:v>
                </c:pt>
                <c:pt idx="390">
                  <c:v>43.25</c:v>
                </c:pt>
                <c:pt idx="391">
                  <c:v>41.93</c:v>
                </c:pt>
                <c:pt idx="392">
                  <c:v>41.580002</c:v>
                </c:pt>
                <c:pt idx="393">
                  <c:v>41.91</c:v>
                </c:pt>
                <c:pt idx="394">
                  <c:v>42.060001</c:v>
                </c:pt>
                <c:pt idx="395">
                  <c:v>42.380001</c:v>
                </c:pt>
                <c:pt idx="396">
                  <c:v>41.84</c:v>
                </c:pt>
                <c:pt idx="397">
                  <c:v>42.66</c:v>
                </c:pt>
                <c:pt idx="398">
                  <c:v>42.290000999999997</c:v>
                </c:pt>
                <c:pt idx="399">
                  <c:v>41.580002</c:v>
                </c:pt>
                <c:pt idx="400">
                  <c:v>41.82</c:v>
                </c:pt>
                <c:pt idx="401">
                  <c:v>43.09</c:v>
                </c:pt>
                <c:pt idx="402">
                  <c:v>43.450001</c:v>
                </c:pt>
                <c:pt idx="403">
                  <c:v>43.900002000000001</c:v>
                </c:pt>
                <c:pt idx="404">
                  <c:v>42.779998999999997</c:v>
                </c:pt>
                <c:pt idx="405">
                  <c:v>41.549999</c:v>
                </c:pt>
                <c:pt idx="406">
                  <c:v>42.990001999999997</c:v>
                </c:pt>
                <c:pt idx="407">
                  <c:v>43.169998</c:v>
                </c:pt>
                <c:pt idx="408">
                  <c:v>43.060001</c:v>
                </c:pt>
                <c:pt idx="409">
                  <c:v>43.880001</c:v>
                </c:pt>
                <c:pt idx="410">
                  <c:v>43.099997999999999</c:v>
                </c:pt>
                <c:pt idx="411">
                  <c:v>34.150002000000001</c:v>
                </c:pt>
                <c:pt idx="412">
                  <c:v>34.860000999999997</c:v>
                </c:pt>
                <c:pt idx="413">
                  <c:v>36.299999</c:v>
                </c:pt>
                <c:pt idx="414">
                  <c:v>36.770000000000003</c:v>
                </c:pt>
                <c:pt idx="415">
                  <c:v>37.32</c:v>
                </c:pt>
                <c:pt idx="416">
                  <c:v>36.720001000000003</c:v>
                </c:pt>
                <c:pt idx="417">
                  <c:v>37.159999999999997</c:v>
                </c:pt>
                <c:pt idx="418">
                  <c:v>36.200001</c:v>
                </c:pt>
                <c:pt idx="419">
                  <c:v>36.259998000000003</c:v>
                </c:pt>
                <c:pt idx="420">
                  <c:v>36.689999</c:v>
                </c:pt>
                <c:pt idx="421">
                  <c:v>37.779998999999997</c:v>
                </c:pt>
                <c:pt idx="422">
                  <c:v>38.299999</c:v>
                </c:pt>
                <c:pt idx="423">
                  <c:v>36.959999000000003</c:v>
                </c:pt>
                <c:pt idx="424">
                  <c:v>35.970001000000003</c:v>
                </c:pt>
                <c:pt idx="425">
                  <c:v>36.490001999999997</c:v>
                </c:pt>
                <c:pt idx="426">
                  <c:v>36.139999000000003</c:v>
                </c:pt>
                <c:pt idx="427">
                  <c:v>36.639999000000003</c:v>
                </c:pt>
                <c:pt idx="428">
                  <c:v>36.25</c:v>
                </c:pt>
                <c:pt idx="429">
                  <c:v>35.229999999999997</c:v>
                </c:pt>
                <c:pt idx="430">
                  <c:v>34.770000000000003</c:v>
                </c:pt>
                <c:pt idx="431">
                  <c:v>35.240001999999997</c:v>
                </c:pt>
                <c:pt idx="432">
                  <c:v>36.470001000000003</c:v>
                </c:pt>
                <c:pt idx="433">
                  <c:v>36.119999</c:v>
                </c:pt>
                <c:pt idx="434">
                  <c:v>36.130001</c:v>
                </c:pt>
                <c:pt idx="435">
                  <c:v>36.330002</c:v>
                </c:pt>
                <c:pt idx="436">
                  <c:v>35.799999</c:v>
                </c:pt>
                <c:pt idx="437">
                  <c:v>34.880001</c:v>
                </c:pt>
                <c:pt idx="438">
                  <c:v>35.049999</c:v>
                </c:pt>
                <c:pt idx="439">
                  <c:v>35.900002000000001</c:v>
                </c:pt>
                <c:pt idx="440">
                  <c:v>36.560001</c:v>
                </c:pt>
                <c:pt idx="441">
                  <c:v>36.169998</c:v>
                </c:pt>
                <c:pt idx="442">
                  <c:v>36.119999</c:v>
                </c:pt>
                <c:pt idx="443">
                  <c:v>36.229999999999997</c:v>
                </c:pt>
                <c:pt idx="444">
                  <c:v>35.779998999999997</c:v>
                </c:pt>
                <c:pt idx="445">
                  <c:v>36.209999000000003</c:v>
                </c:pt>
                <c:pt idx="446">
                  <c:v>35.07</c:v>
                </c:pt>
                <c:pt idx="447">
                  <c:v>34.939999</c:v>
                </c:pt>
                <c:pt idx="448">
                  <c:v>34.340000000000003</c:v>
                </c:pt>
                <c:pt idx="449">
                  <c:v>35.409999999999997</c:v>
                </c:pt>
                <c:pt idx="450">
                  <c:v>35.669998</c:v>
                </c:pt>
                <c:pt idx="451">
                  <c:v>36.650002000000001</c:v>
                </c:pt>
                <c:pt idx="452">
                  <c:v>36.779998999999997</c:v>
                </c:pt>
                <c:pt idx="453">
                  <c:v>37.150002000000001</c:v>
                </c:pt>
                <c:pt idx="454">
                  <c:v>37.049999</c:v>
                </c:pt>
                <c:pt idx="455">
                  <c:v>34.900002000000001</c:v>
                </c:pt>
                <c:pt idx="456">
                  <c:v>34.830002</c:v>
                </c:pt>
                <c:pt idx="457">
                  <c:v>33.990001999999997</c:v>
                </c:pt>
                <c:pt idx="458">
                  <c:v>33.630001</c:v>
                </c:pt>
                <c:pt idx="459">
                  <c:v>25.58</c:v>
                </c:pt>
                <c:pt idx="460">
                  <c:v>27.030000999999999</c:v>
                </c:pt>
                <c:pt idx="461">
                  <c:v>26.370000999999998</c:v>
                </c:pt>
                <c:pt idx="462">
                  <c:v>26.610001</c:v>
                </c:pt>
                <c:pt idx="463">
                  <c:v>26.75</c:v>
                </c:pt>
                <c:pt idx="464">
                  <c:v>27.32</c:v>
                </c:pt>
                <c:pt idx="465">
                  <c:v>27.440000999999999</c:v>
                </c:pt>
                <c:pt idx="466">
                  <c:v>26.559999000000001</c:v>
                </c:pt>
                <c:pt idx="467">
                  <c:v>25.530000999999999</c:v>
                </c:pt>
                <c:pt idx="468">
                  <c:v>25.24</c:v>
                </c:pt>
                <c:pt idx="469">
                  <c:v>25.790001</c:v>
                </c:pt>
                <c:pt idx="470">
                  <c:v>24.870000999999998</c:v>
                </c:pt>
                <c:pt idx="471">
                  <c:v>24.75</c:v>
                </c:pt>
                <c:pt idx="472">
                  <c:v>25.09</c:v>
                </c:pt>
                <c:pt idx="473">
                  <c:v>25.299999</c:v>
                </c:pt>
                <c:pt idx="474">
                  <c:v>24.84</c:v>
                </c:pt>
                <c:pt idx="475">
                  <c:v>25.559999000000001</c:v>
                </c:pt>
                <c:pt idx="476">
                  <c:v>25.07</c:v>
                </c:pt>
                <c:pt idx="477">
                  <c:v>24.33</c:v>
                </c:pt>
                <c:pt idx="478">
                  <c:v>23.709999</c:v>
                </c:pt>
                <c:pt idx="479">
                  <c:v>24.1</c:v>
                </c:pt>
                <c:pt idx="480">
                  <c:v>23.98</c:v>
                </c:pt>
                <c:pt idx="481">
                  <c:v>24.389999</c:v>
                </c:pt>
                <c:pt idx="482">
                  <c:v>24.120000999999998</c:v>
                </c:pt>
                <c:pt idx="483">
                  <c:v>24.190000999999999</c:v>
                </c:pt>
                <c:pt idx="484">
                  <c:v>24.629999000000002</c:v>
                </c:pt>
                <c:pt idx="485">
                  <c:v>24.25</c:v>
                </c:pt>
                <c:pt idx="486">
                  <c:v>24.33</c:v>
                </c:pt>
                <c:pt idx="487">
                  <c:v>24.610001</c:v>
                </c:pt>
                <c:pt idx="488">
                  <c:v>25.299999</c:v>
                </c:pt>
                <c:pt idx="489">
                  <c:v>24.700001</c:v>
                </c:pt>
                <c:pt idx="490">
                  <c:v>24.65</c:v>
                </c:pt>
                <c:pt idx="491">
                  <c:v>24.709999</c:v>
                </c:pt>
                <c:pt idx="492">
                  <c:v>25.67</c:v>
                </c:pt>
                <c:pt idx="493">
                  <c:v>24.58</c:v>
                </c:pt>
                <c:pt idx="494">
                  <c:v>24.799999</c:v>
                </c:pt>
                <c:pt idx="495">
                  <c:v>24.790001</c:v>
                </c:pt>
                <c:pt idx="496">
                  <c:v>25.059999000000001</c:v>
                </c:pt>
                <c:pt idx="497">
                  <c:v>23.969999000000001</c:v>
                </c:pt>
                <c:pt idx="498">
                  <c:v>23.65</c:v>
                </c:pt>
                <c:pt idx="499">
                  <c:v>23.6</c:v>
                </c:pt>
                <c:pt idx="500">
                  <c:v>24.02</c:v>
                </c:pt>
                <c:pt idx="501">
                  <c:v>23.58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CF-3A40-B674-BAD90D34C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10047679"/>
        <c:axId val="835616512"/>
      </c:lineChart>
      <c:dateAx>
        <c:axId val="1910047679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835616512"/>
        <c:crosses val="autoZero"/>
        <c:auto val="1"/>
        <c:lblOffset val="100"/>
        <c:baseTimeUnit val="days"/>
        <c:majorUnit val="3"/>
        <c:majorTimeUnit val="months"/>
      </c:dateAx>
      <c:valAx>
        <c:axId val="835616512"/>
        <c:scaling>
          <c:orientation val="minMax"/>
        </c:scaling>
        <c:delete val="0"/>
        <c:axPos val="l"/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910047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</a:rPr>
              <a:t>Inventory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41275" cap="rnd">
              <a:solidFill>
                <a:srgbClr val="673600"/>
              </a:solidFill>
              <a:round/>
            </a:ln>
            <a:effectLst/>
          </c:spPr>
          <c:marker>
            <c:symbol val="none"/>
          </c:marker>
          <c:cat>
            <c:strRef>
              <c:f>'Inventory Levels'!$B$3:$B$10</c:f>
              <c:strCache>
                <c:ptCount val="8"/>
                <c:pt idx="0">
                  <c:v>22 Q2</c:v>
                </c:pt>
                <c:pt idx="1">
                  <c:v>22 Q3</c:v>
                </c:pt>
                <c:pt idx="2">
                  <c:v>22 Q4</c:v>
                </c:pt>
                <c:pt idx="3">
                  <c:v>23 Q1</c:v>
                </c:pt>
                <c:pt idx="4">
                  <c:v>23 Q2</c:v>
                </c:pt>
                <c:pt idx="5">
                  <c:v>23 Q3</c:v>
                </c:pt>
                <c:pt idx="6">
                  <c:v>23 Q4</c:v>
                </c:pt>
                <c:pt idx="7">
                  <c:v>24 Q1</c:v>
                </c:pt>
              </c:strCache>
            </c:strRef>
          </c:cat>
          <c:val>
            <c:numRef>
              <c:f>'Inventory Levels'!$C$3:$C$10</c:f>
              <c:numCache>
                <c:formatCode>General</c:formatCode>
                <c:ptCount val="8"/>
                <c:pt idx="0">
                  <c:v>182</c:v>
                </c:pt>
                <c:pt idx="1">
                  <c:v>177</c:v>
                </c:pt>
                <c:pt idx="2">
                  <c:v>208</c:v>
                </c:pt>
                <c:pt idx="3">
                  <c:v>299</c:v>
                </c:pt>
                <c:pt idx="4">
                  <c:v>455</c:v>
                </c:pt>
                <c:pt idx="5">
                  <c:v>508</c:v>
                </c:pt>
                <c:pt idx="6">
                  <c:v>467</c:v>
                </c:pt>
                <c:pt idx="7">
                  <c:v>485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0F-904B-B2B8-DC04253D1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21511824"/>
        <c:axId val="278503583"/>
      </c:lineChart>
      <c:catAx>
        <c:axId val="1921511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278503583"/>
        <c:crosses val="autoZero"/>
        <c:auto val="1"/>
        <c:lblAlgn val="ctr"/>
        <c:lblOffset val="100"/>
        <c:noMultiLvlLbl val="0"/>
      </c:catAx>
      <c:valAx>
        <c:axId val="2785035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921511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  <a:latin typeface="Book Antiqua" panose="02040602050305030304" pitchFamily="18" charset="0"/>
              </a:rPr>
              <a:t>eCommerce %</a:t>
            </a:r>
            <a:r>
              <a:rPr lang="en-US" baseline="0">
                <a:solidFill>
                  <a:schemeClr val="tx1"/>
                </a:solidFill>
                <a:latin typeface="Book Antiqua" panose="02040602050305030304" pitchFamily="18" charset="0"/>
              </a:rPr>
              <a:t> of Sales</a:t>
            </a:r>
            <a:endParaRPr lang="en-US">
              <a:solidFill>
                <a:schemeClr val="tx1"/>
              </a:solidFill>
              <a:latin typeface="Book Antiqua" panose="0204060205030503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673600"/>
              </a:solidFill>
              <a:round/>
            </a:ln>
            <a:effectLst/>
          </c:spPr>
          <c:marker>
            <c:symbol val="none"/>
          </c:marker>
          <c:cat>
            <c:strRef>
              <c:f>'eCommerce % of Sales'!$B$3:$B$10</c:f>
              <c:strCache>
                <c:ptCount val="8"/>
                <c:pt idx="0">
                  <c:v>22 Q2</c:v>
                </c:pt>
                <c:pt idx="1">
                  <c:v>22 Q3</c:v>
                </c:pt>
                <c:pt idx="2">
                  <c:v>22 Q4</c:v>
                </c:pt>
                <c:pt idx="3">
                  <c:v>23 Q1</c:v>
                </c:pt>
                <c:pt idx="4">
                  <c:v>23 Q2</c:v>
                </c:pt>
                <c:pt idx="5">
                  <c:v>23 Q3</c:v>
                </c:pt>
                <c:pt idx="6">
                  <c:v>23 Q4</c:v>
                </c:pt>
                <c:pt idx="7">
                  <c:v>24 Q1</c:v>
                </c:pt>
              </c:strCache>
            </c:strRef>
          </c:cat>
          <c:val>
            <c:numRef>
              <c:f>'eCommerce % of Sales'!$C$3:$C$10</c:f>
              <c:numCache>
                <c:formatCode>0%</c:formatCode>
                <c:ptCount val="8"/>
                <c:pt idx="0">
                  <c:v>0.37142857142857144</c:v>
                </c:pt>
                <c:pt idx="1">
                  <c:v>0.32671081677704195</c:v>
                </c:pt>
                <c:pt idx="2">
                  <c:v>0.40990990990990989</c:v>
                </c:pt>
                <c:pt idx="3">
                  <c:v>0.29411764705882354</c:v>
                </c:pt>
                <c:pt idx="4">
                  <c:v>0.33079847908745247</c:v>
                </c:pt>
                <c:pt idx="5">
                  <c:v>0.3216</c:v>
                </c:pt>
                <c:pt idx="6">
                  <c:v>0.42946708463949845</c:v>
                </c:pt>
                <c:pt idx="7">
                  <c:v>0.28907922912205569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FB-2646-9664-5F1CC1E84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3557952"/>
        <c:axId val="1882378960"/>
      </c:lineChart>
      <c:catAx>
        <c:axId val="1963557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882378960"/>
        <c:crosses val="autoZero"/>
        <c:auto val="1"/>
        <c:lblAlgn val="ctr"/>
        <c:lblOffset val="100"/>
        <c:noMultiLvlLbl val="0"/>
      </c:catAx>
      <c:valAx>
        <c:axId val="1882378960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963557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11E8EF-5A2A-7640-9B52-AD2EF4CB61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B8336D-60EE-B044-88A7-6A6023B9BC0E}">
      <dgm:prSet custT="1"/>
      <dgm:spPr>
        <a:solidFill>
          <a:schemeClr val="bg1"/>
        </a:solidFill>
        <a:ln>
          <a:solidFill>
            <a:srgbClr val="351C04"/>
          </a:solidFill>
        </a:ln>
      </dgm:spPr>
      <dgm:t>
        <a:bodyPr/>
        <a:lstStyle/>
        <a:p>
          <a:pPr algn="ctr"/>
          <a:r>
            <a:rPr lang="en-US" sz="1400" b="1" i="0" dirty="0">
              <a:solidFill>
                <a:schemeClr val="tx1"/>
              </a:solidFill>
            </a:rPr>
            <a:t>Clear store expansion path in the U.S. </a:t>
          </a:r>
          <a:endParaRPr lang="en-US" sz="1400" b="1" dirty="0">
            <a:solidFill>
              <a:schemeClr val="tx1"/>
            </a:solidFill>
          </a:endParaRPr>
        </a:p>
      </dgm:t>
    </dgm:pt>
    <dgm:pt modelId="{B135140E-083E-E24F-9CF7-B113F04A6623}" type="parTrans" cxnId="{3C821A90-24F0-2749-A84F-47C89B8CF1E2}">
      <dgm:prSet/>
      <dgm:spPr/>
      <dgm:t>
        <a:bodyPr/>
        <a:lstStyle/>
        <a:p>
          <a:endParaRPr lang="en-US"/>
        </a:p>
      </dgm:t>
    </dgm:pt>
    <dgm:pt modelId="{BC63FEA9-70D0-2846-B0CE-973E93A4AFA3}" type="sibTrans" cxnId="{3C821A90-24F0-2749-A84F-47C89B8CF1E2}">
      <dgm:prSet/>
      <dgm:spPr/>
      <dgm:t>
        <a:bodyPr/>
        <a:lstStyle/>
        <a:p>
          <a:endParaRPr lang="en-US"/>
        </a:p>
      </dgm:t>
    </dgm:pt>
    <dgm:pt modelId="{67C79D89-38E6-5647-847F-4C728D6E9794}">
      <dgm:prSet custT="1"/>
      <dgm:spPr>
        <a:solidFill>
          <a:schemeClr val="bg1"/>
        </a:solidFill>
        <a:ln>
          <a:solidFill>
            <a:srgbClr val="351C04"/>
          </a:solidFill>
        </a:ln>
      </dgm:spPr>
      <dgm:t>
        <a:bodyPr/>
        <a:lstStyle/>
        <a:p>
          <a:pPr algn="ctr"/>
          <a:r>
            <a:rPr lang="en-US" sz="1400" b="1" i="0" dirty="0">
              <a:solidFill>
                <a:schemeClr val="tx1"/>
              </a:solidFill>
            </a:rPr>
            <a:t>Opportunity to fully develop eCommerce </a:t>
          </a:r>
          <a:endParaRPr lang="en-US" sz="1400" b="1" dirty="0">
            <a:solidFill>
              <a:schemeClr val="tx1"/>
            </a:solidFill>
          </a:endParaRPr>
        </a:p>
      </dgm:t>
    </dgm:pt>
    <dgm:pt modelId="{C06CA681-6DD0-144F-B878-DC05CDEBB809}" type="parTrans" cxnId="{3741F5F1-E444-A746-91DB-8C44E0D15ABB}">
      <dgm:prSet/>
      <dgm:spPr/>
      <dgm:t>
        <a:bodyPr/>
        <a:lstStyle/>
        <a:p>
          <a:endParaRPr lang="en-US"/>
        </a:p>
      </dgm:t>
    </dgm:pt>
    <dgm:pt modelId="{4DBB4C18-321C-0046-91D7-C58FAE0DBBCD}" type="sibTrans" cxnId="{3741F5F1-E444-A746-91DB-8C44E0D15ABB}">
      <dgm:prSet/>
      <dgm:spPr/>
      <dgm:t>
        <a:bodyPr/>
        <a:lstStyle/>
        <a:p>
          <a:endParaRPr lang="en-US"/>
        </a:p>
      </dgm:t>
    </dgm:pt>
    <dgm:pt modelId="{CFEFE809-7E17-1941-B5C3-B8BBBC07A634}">
      <dgm:prSet custT="1"/>
      <dgm:spPr>
        <a:solidFill>
          <a:schemeClr val="bg1"/>
        </a:solidFill>
        <a:ln>
          <a:solidFill>
            <a:srgbClr val="351C04"/>
          </a:solidFill>
        </a:ln>
      </dgm:spPr>
      <dgm:t>
        <a:bodyPr/>
        <a:lstStyle/>
        <a:p>
          <a:pPr algn="ctr"/>
          <a:r>
            <a:rPr lang="en-US" sz="1400" b="1" i="0" dirty="0">
              <a:solidFill>
                <a:schemeClr val="tx1"/>
              </a:solidFill>
            </a:rPr>
            <a:t>Brand durability is underappreciated </a:t>
          </a:r>
          <a:endParaRPr lang="en-US" sz="1400" b="1" dirty="0">
            <a:solidFill>
              <a:schemeClr val="tx1"/>
            </a:solidFill>
          </a:endParaRPr>
        </a:p>
      </dgm:t>
    </dgm:pt>
    <dgm:pt modelId="{4439C5F9-0219-DB40-8639-2A5D4E26B5F1}" type="parTrans" cxnId="{FA7C0B8C-95F2-B24E-AFEB-6FAFBC29C6E0}">
      <dgm:prSet/>
      <dgm:spPr/>
      <dgm:t>
        <a:bodyPr/>
        <a:lstStyle/>
        <a:p>
          <a:endParaRPr lang="en-US"/>
        </a:p>
      </dgm:t>
    </dgm:pt>
    <dgm:pt modelId="{14DD4E83-6C77-794B-877D-F4D6E0D31149}" type="sibTrans" cxnId="{FA7C0B8C-95F2-B24E-AFEB-6FAFBC29C6E0}">
      <dgm:prSet/>
      <dgm:spPr/>
      <dgm:t>
        <a:bodyPr/>
        <a:lstStyle/>
        <a:p>
          <a:endParaRPr lang="en-US"/>
        </a:p>
      </dgm:t>
    </dgm:pt>
    <dgm:pt modelId="{4FF3FA28-FC80-114D-9623-715042CC6546}">
      <dgm:prSet custT="1"/>
      <dgm:spPr>
        <a:solidFill>
          <a:schemeClr val="bg1"/>
        </a:solidFill>
        <a:ln>
          <a:solidFill>
            <a:srgbClr val="351C04"/>
          </a:solidFill>
        </a:ln>
      </dgm:spPr>
      <dgm:t>
        <a:bodyPr/>
        <a:lstStyle/>
        <a:p>
          <a:pPr algn="ctr"/>
          <a:r>
            <a:rPr lang="en-US" sz="1400" b="1" dirty="0">
              <a:solidFill>
                <a:schemeClr val="tx1"/>
              </a:solidFill>
            </a:rPr>
            <a:t>Industry leading unit economics</a:t>
          </a:r>
        </a:p>
      </dgm:t>
    </dgm:pt>
    <dgm:pt modelId="{76078C94-AF21-0A42-81CC-C7E5A120B9F9}" type="parTrans" cxnId="{7B42A265-FFF0-0840-97DE-CA12D1A2D749}">
      <dgm:prSet/>
      <dgm:spPr/>
      <dgm:t>
        <a:bodyPr/>
        <a:lstStyle/>
        <a:p>
          <a:endParaRPr lang="en-US"/>
        </a:p>
      </dgm:t>
    </dgm:pt>
    <dgm:pt modelId="{646A161A-E891-6D49-B7F0-DF2857BD489E}" type="sibTrans" cxnId="{7B42A265-FFF0-0840-97DE-CA12D1A2D749}">
      <dgm:prSet/>
      <dgm:spPr/>
      <dgm:t>
        <a:bodyPr/>
        <a:lstStyle/>
        <a:p>
          <a:endParaRPr lang="en-US"/>
        </a:p>
      </dgm:t>
    </dgm:pt>
    <dgm:pt modelId="{F7CE726E-6653-2348-974A-FD3F31587614}" type="pres">
      <dgm:prSet presAssocID="{7D11E8EF-5A2A-7640-9B52-AD2EF4CB6193}" presName="linear" presStyleCnt="0">
        <dgm:presLayoutVars>
          <dgm:animLvl val="lvl"/>
          <dgm:resizeHandles val="exact"/>
        </dgm:presLayoutVars>
      </dgm:prSet>
      <dgm:spPr/>
    </dgm:pt>
    <dgm:pt modelId="{C7B098B7-B29D-704E-A72D-AB46D395A71A}" type="pres">
      <dgm:prSet presAssocID="{DFB8336D-60EE-B044-88A7-6A6023B9BC0E}" presName="parentText" presStyleLbl="node1" presStyleIdx="0" presStyleCnt="4" custLinFactNeighborY="-84978">
        <dgm:presLayoutVars>
          <dgm:chMax val="0"/>
          <dgm:bulletEnabled val="1"/>
        </dgm:presLayoutVars>
      </dgm:prSet>
      <dgm:spPr/>
    </dgm:pt>
    <dgm:pt modelId="{F4C311A4-4429-6349-AFFA-A3890C017BAF}" type="pres">
      <dgm:prSet presAssocID="{BC63FEA9-70D0-2846-B0CE-973E93A4AFA3}" presName="spacer" presStyleCnt="0"/>
      <dgm:spPr/>
    </dgm:pt>
    <dgm:pt modelId="{8DFB2EE8-28A6-EB42-B7BC-18F5379D67A0}" type="pres">
      <dgm:prSet presAssocID="{4FF3FA28-FC80-114D-9623-715042CC654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7CF7DC-E902-0848-B3F3-E5E0EF125E01}" type="pres">
      <dgm:prSet presAssocID="{646A161A-E891-6D49-B7F0-DF2857BD489E}" presName="spacer" presStyleCnt="0"/>
      <dgm:spPr/>
    </dgm:pt>
    <dgm:pt modelId="{8D3F1745-2CDC-364F-ACC7-14EA34033C8A}" type="pres">
      <dgm:prSet presAssocID="{67C79D89-38E6-5647-847F-4C728D6E97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7CBF12-4DB4-9344-83FE-7F3D52F679A3}" type="pres">
      <dgm:prSet presAssocID="{4DBB4C18-321C-0046-91D7-C58FAE0DBBCD}" presName="spacer" presStyleCnt="0"/>
      <dgm:spPr/>
    </dgm:pt>
    <dgm:pt modelId="{C8894595-6CAA-B043-A4DB-D3CB3A4EC711}" type="pres">
      <dgm:prSet presAssocID="{CFEFE809-7E17-1941-B5C3-B8BBBC07A634}" presName="parentText" presStyleLbl="node1" presStyleIdx="3" presStyleCnt="4" custLinFactY="153700" custLinFactNeighborX="65" custLinFactNeighborY="200000">
        <dgm:presLayoutVars>
          <dgm:chMax val="0"/>
          <dgm:bulletEnabled val="1"/>
        </dgm:presLayoutVars>
      </dgm:prSet>
      <dgm:spPr/>
    </dgm:pt>
  </dgm:ptLst>
  <dgm:cxnLst>
    <dgm:cxn modelId="{DC5F5E38-3CF1-9640-AF69-5F423AEF88AF}" type="presOf" srcId="{DFB8336D-60EE-B044-88A7-6A6023B9BC0E}" destId="{C7B098B7-B29D-704E-A72D-AB46D395A71A}" srcOrd="0" destOrd="0" presId="urn:microsoft.com/office/officeart/2005/8/layout/vList2"/>
    <dgm:cxn modelId="{583BE457-EB5C-B045-BB47-492B6E6715A5}" type="presOf" srcId="{4FF3FA28-FC80-114D-9623-715042CC6546}" destId="{8DFB2EE8-28A6-EB42-B7BC-18F5379D67A0}" srcOrd="0" destOrd="0" presId="urn:microsoft.com/office/officeart/2005/8/layout/vList2"/>
    <dgm:cxn modelId="{7B42A265-FFF0-0840-97DE-CA12D1A2D749}" srcId="{7D11E8EF-5A2A-7640-9B52-AD2EF4CB6193}" destId="{4FF3FA28-FC80-114D-9623-715042CC6546}" srcOrd="1" destOrd="0" parTransId="{76078C94-AF21-0A42-81CC-C7E5A120B9F9}" sibTransId="{646A161A-E891-6D49-B7F0-DF2857BD489E}"/>
    <dgm:cxn modelId="{FA7C0B8C-95F2-B24E-AFEB-6FAFBC29C6E0}" srcId="{7D11E8EF-5A2A-7640-9B52-AD2EF4CB6193}" destId="{CFEFE809-7E17-1941-B5C3-B8BBBC07A634}" srcOrd="3" destOrd="0" parTransId="{4439C5F9-0219-DB40-8639-2A5D4E26B5F1}" sibTransId="{14DD4E83-6C77-794B-877D-F4D6E0D31149}"/>
    <dgm:cxn modelId="{3C821A90-24F0-2749-A84F-47C89B8CF1E2}" srcId="{7D11E8EF-5A2A-7640-9B52-AD2EF4CB6193}" destId="{DFB8336D-60EE-B044-88A7-6A6023B9BC0E}" srcOrd="0" destOrd="0" parTransId="{B135140E-083E-E24F-9CF7-B113F04A6623}" sibTransId="{BC63FEA9-70D0-2846-B0CE-973E93A4AFA3}"/>
    <dgm:cxn modelId="{C11BD4B4-117D-5446-AE56-BF1F30823A8A}" type="presOf" srcId="{67C79D89-38E6-5647-847F-4C728D6E9794}" destId="{8D3F1745-2CDC-364F-ACC7-14EA34033C8A}" srcOrd="0" destOrd="0" presId="urn:microsoft.com/office/officeart/2005/8/layout/vList2"/>
    <dgm:cxn modelId="{F33507E9-2AD5-CF4B-9924-D5A674A2AB19}" type="presOf" srcId="{CFEFE809-7E17-1941-B5C3-B8BBBC07A634}" destId="{C8894595-6CAA-B043-A4DB-D3CB3A4EC711}" srcOrd="0" destOrd="0" presId="urn:microsoft.com/office/officeart/2005/8/layout/vList2"/>
    <dgm:cxn modelId="{3741F5F1-E444-A746-91DB-8C44E0D15ABB}" srcId="{7D11E8EF-5A2A-7640-9B52-AD2EF4CB6193}" destId="{67C79D89-38E6-5647-847F-4C728D6E9794}" srcOrd="2" destOrd="0" parTransId="{C06CA681-6DD0-144F-B878-DC05CDEBB809}" sibTransId="{4DBB4C18-321C-0046-91D7-C58FAE0DBBCD}"/>
    <dgm:cxn modelId="{252FA4F5-50C8-D94A-9BC4-97EC3C626C6C}" type="presOf" srcId="{7D11E8EF-5A2A-7640-9B52-AD2EF4CB6193}" destId="{F7CE726E-6653-2348-974A-FD3F31587614}" srcOrd="0" destOrd="0" presId="urn:microsoft.com/office/officeart/2005/8/layout/vList2"/>
    <dgm:cxn modelId="{95FDBC8F-1B10-8842-B497-D495FD28AF17}" type="presParOf" srcId="{F7CE726E-6653-2348-974A-FD3F31587614}" destId="{C7B098B7-B29D-704E-A72D-AB46D395A71A}" srcOrd="0" destOrd="0" presId="urn:microsoft.com/office/officeart/2005/8/layout/vList2"/>
    <dgm:cxn modelId="{133B6D69-A164-B64F-9B47-F0883C2D2E17}" type="presParOf" srcId="{F7CE726E-6653-2348-974A-FD3F31587614}" destId="{F4C311A4-4429-6349-AFFA-A3890C017BAF}" srcOrd="1" destOrd="0" presId="urn:microsoft.com/office/officeart/2005/8/layout/vList2"/>
    <dgm:cxn modelId="{D5B9970C-7E9A-EF47-BF03-2C9518B7C0CF}" type="presParOf" srcId="{F7CE726E-6653-2348-974A-FD3F31587614}" destId="{8DFB2EE8-28A6-EB42-B7BC-18F5379D67A0}" srcOrd="2" destOrd="0" presId="urn:microsoft.com/office/officeart/2005/8/layout/vList2"/>
    <dgm:cxn modelId="{3A886C91-0A3E-3A44-8F8F-FE2DFA6E58D3}" type="presParOf" srcId="{F7CE726E-6653-2348-974A-FD3F31587614}" destId="{AC7CF7DC-E902-0848-B3F3-E5E0EF125E01}" srcOrd="3" destOrd="0" presId="urn:microsoft.com/office/officeart/2005/8/layout/vList2"/>
    <dgm:cxn modelId="{21A7FB02-786F-6C41-BF75-D8E86DAD846B}" type="presParOf" srcId="{F7CE726E-6653-2348-974A-FD3F31587614}" destId="{8D3F1745-2CDC-364F-ACC7-14EA34033C8A}" srcOrd="4" destOrd="0" presId="urn:microsoft.com/office/officeart/2005/8/layout/vList2"/>
    <dgm:cxn modelId="{96588036-CA82-F24E-B45A-D15F525949D4}" type="presParOf" srcId="{F7CE726E-6653-2348-974A-FD3F31587614}" destId="{8B7CBF12-4DB4-9344-83FE-7F3D52F679A3}" srcOrd="5" destOrd="0" presId="urn:microsoft.com/office/officeart/2005/8/layout/vList2"/>
    <dgm:cxn modelId="{594C77E7-AC7D-0940-A319-ADDC42F0EFD8}" type="presParOf" srcId="{F7CE726E-6653-2348-974A-FD3F31587614}" destId="{C8894595-6CAA-B043-A4DB-D3CB3A4EC71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32D102-BA84-7346-A7D8-FB4C7D45C0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3F6EEA-60F8-3E43-BA28-CAEE88680105}">
      <dgm:prSet custT="1"/>
      <dgm:spPr>
        <a:solidFill>
          <a:schemeClr val="bg1"/>
        </a:solidFill>
        <a:ln>
          <a:solidFill>
            <a:srgbClr val="351C04"/>
          </a:solidFill>
        </a:ln>
      </dgm:spPr>
      <dgm:t>
        <a:bodyPr/>
        <a:lstStyle/>
        <a:p>
          <a:pPr algn="ctr"/>
          <a:r>
            <a:rPr lang="en-US" sz="1400" b="0" i="0" dirty="0">
              <a:solidFill>
                <a:schemeClr val="tx1"/>
              </a:solidFill>
            </a:rPr>
            <a:t>Only 35% of LTM revenue came online, </a:t>
          </a:r>
          <a:r>
            <a:rPr lang="en-US" sz="1400" b="1" i="0" dirty="0">
              <a:solidFill>
                <a:schemeClr val="tx1"/>
              </a:solidFill>
            </a:rPr>
            <a:t>lagging industry average </a:t>
          </a:r>
          <a:r>
            <a:rPr lang="en-US" sz="1400" b="0" i="0" dirty="0">
              <a:solidFill>
                <a:schemeClr val="tx1"/>
              </a:solidFill>
            </a:rPr>
            <a:t>of 45%</a:t>
          </a:r>
          <a:endParaRPr lang="en-US" sz="1400" dirty="0">
            <a:solidFill>
              <a:schemeClr val="tx1"/>
            </a:solidFill>
          </a:endParaRPr>
        </a:p>
      </dgm:t>
    </dgm:pt>
    <dgm:pt modelId="{7DDA1FC8-CDAB-AC43-9273-B875F38D8C4F}" type="parTrans" cxnId="{0BEC1A55-8E38-834D-B10B-674EF4DA09F2}">
      <dgm:prSet/>
      <dgm:spPr/>
      <dgm:t>
        <a:bodyPr/>
        <a:lstStyle/>
        <a:p>
          <a:endParaRPr lang="en-US"/>
        </a:p>
      </dgm:t>
    </dgm:pt>
    <dgm:pt modelId="{97917156-08E1-9246-A220-C87B53ADADB5}" type="sibTrans" cxnId="{0BEC1A55-8E38-834D-B10B-674EF4DA09F2}">
      <dgm:prSet/>
      <dgm:spPr/>
      <dgm:t>
        <a:bodyPr/>
        <a:lstStyle/>
        <a:p>
          <a:endParaRPr lang="en-US"/>
        </a:p>
      </dgm:t>
    </dgm:pt>
    <dgm:pt modelId="{18E2622B-3D75-7F4C-A89E-C28ECBE34396}">
      <dgm:prSet custT="1"/>
      <dgm:spPr>
        <a:solidFill>
          <a:schemeClr val="bg1"/>
        </a:solidFill>
        <a:ln>
          <a:solidFill>
            <a:srgbClr val="351C04"/>
          </a:solidFill>
        </a:ln>
      </dgm:spPr>
      <dgm:t>
        <a:bodyPr/>
        <a:lstStyle/>
        <a:p>
          <a:pPr algn="ctr"/>
          <a:r>
            <a:rPr lang="en-US" sz="1400" b="0" i="0" dirty="0">
              <a:solidFill>
                <a:schemeClr val="tx1"/>
              </a:solidFill>
            </a:rPr>
            <a:t>Ex-CEO Brian Hill’s employed </a:t>
          </a:r>
          <a:r>
            <a:rPr lang="en-US" sz="1400" b="1" i="0" dirty="0">
              <a:solidFill>
                <a:schemeClr val="tx1"/>
              </a:solidFill>
            </a:rPr>
            <a:t>conservative approach </a:t>
          </a:r>
          <a:r>
            <a:rPr lang="en-US" sz="1400" b="0" i="0" dirty="0">
              <a:solidFill>
                <a:schemeClr val="tx1"/>
              </a:solidFill>
            </a:rPr>
            <a:t>to digital platforms</a:t>
          </a:r>
          <a:endParaRPr lang="en-US" sz="1400" dirty="0">
            <a:solidFill>
              <a:schemeClr val="tx1"/>
            </a:solidFill>
          </a:endParaRPr>
        </a:p>
      </dgm:t>
    </dgm:pt>
    <dgm:pt modelId="{F78C6D12-4695-8C45-BD3D-94865EC80BC3}" type="parTrans" cxnId="{6DA3722D-2A5D-E84D-A0ED-FBD361FDB374}">
      <dgm:prSet/>
      <dgm:spPr/>
      <dgm:t>
        <a:bodyPr/>
        <a:lstStyle/>
        <a:p>
          <a:endParaRPr lang="en-US"/>
        </a:p>
      </dgm:t>
    </dgm:pt>
    <dgm:pt modelId="{ACF136DF-0622-5745-8660-CD87880D354A}" type="sibTrans" cxnId="{6DA3722D-2A5D-E84D-A0ED-FBD361FDB374}">
      <dgm:prSet/>
      <dgm:spPr/>
      <dgm:t>
        <a:bodyPr/>
        <a:lstStyle/>
        <a:p>
          <a:endParaRPr lang="en-US"/>
        </a:p>
      </dgm:t>
    </dgm:pt>
    <dgm:pt modelId="{B06693B7-FF3F-A24F-9FD5-B1D68D1E372A}">
      <dgm:prSet custT="1"/>
      <dgm:spPr>
        <a:solidFill>
          <a:schemeClr val="bg1"/>
        </a:solidFill>
        <a:ln>
          <a:solidFill>
            <a:srgbClr val="351C04"/>
          </a:solidFill>
        </a:ln>
      </dgm:spPr>
      <dgm:t>
        <a:bodyPr/>
        <a:lstStyle/>
        <a:p>
          <a:pPr algn="ctr"/>
          <a:r>
            <a:rPr lang="en-US" sz="1400" b="0" i="0" dirty="0" err="1">
              <a:solidFill>
                <a:schemeClr val="tx1"/>
              </a:solidFill>
            </a:rPr>
            <a:t>eComm</a:t>
          </a:r>
          <a:r>
            <a:rPr lang="en-US" sz="1400" b="0" i="0" dirty="0">
              <a:solidFill>
                <a:schemeClr val="tx1"/>
              </a:solidFill>
            </a:rPr>
            <a:t> attracts online buyers, increasing </a:t>
          </a:r>
          <a:r>
            <a:rPr lang="en-US" sz="1400" b="1" i="0" dirty="0">
              <a:solidFill>
                <a:schemeClr val="tx1"/>
              </a:solidFill>
            </a:rPr>
            <a:t>customer stickiness </a:t>
          </a:r>
          <a:r>
            <a:rPr lang="en-US" sz="1400" b="0" i="0" dirty="0">
              <a:solidFill>
                <a:schemeClr val="tx1"/>
              </a:solidFill>
            </a:rPr>
            <a:t>and </a:t>
          </a:r>
          <a:r>
            <a:rPr lang="en-US" sz="1400" b="1" i="0" dirty="0">
              <a:solidFill>
                <a:schemeClr val="tx1"/>
              </a:solidFill>
            </a:rPr>
            <a:t>sales volume</a:t>
          </a:r>
          <a:endParaRPr lang="en-US" sz="1400" b="1" dirty="0">
            <a:solidFill>
              <a:schemeClr val="tx1"/>
            </a:solidFill>
          </a:endParaRPr>
        </a:p>
      </dgm:t>
    </dgm:pt>
    <dgm:pt modelId="{5126BDD5-EE4C-9342-AEE0-27778D732CA5}" type="parTrans" cxnId="{C9457006-D4D6-D54F-8CBF-FE374195676A}">
      <dgm:prSet/>
      <dgm:spPr/>
      <dgm:t>
        <a:bodyPr/>
        <a:lstStyle/>
        <a:p>
          <a:endParaRPr lang="en-US"/>
        </a:p>
      </dgm:t>
    </dgm:pt>
    <dgm:pt modelId="{E952E4CF-E78C-7241-B08B-88F96685DEA7}" type="sibTrans" cxnId="{C9457006-D4D6-D54F-8CBF-FE374195676A}">
      <dgm:prSet/>
      <dgm:spPr/>
      <dgm:t>
        <a:bodyPr/>
        <a:lstStyle/>
        <a:p>
          <a:endParaRPr lang="en-US"/>
        </a:p>
      </dgm:t>
    </dgm:pt>
    <dgm:pt modelId="{C1C6D842-F39E-144F-B5B6-6408549C433F}" type="pres">
      <dgm:prSet presAssocID="{C232D102-BA84-7346-A7D8-FB4C7D45C0C6}" presName="linear" presStyleCnt="0">
        <dgm:presLayoutVars>
          <dgm:animLvl val="lvl"/>
          <dgm:resizeHandles val="exact"/>
        </dgm:presLayoutVars>
      </dgm:prSet>
      <dgm:spPr/>
    </dgm:pt>
    <dgm:pt modelId="{7210C39B-38AF-AC46-95E1-65947E8B818F}" type="pres">
      <dgm:prSet presAssocID="{E73F6EEA-60F8-3E43-BA28-CAEE88680105}" presName="parentText" presStyleLbl="node1" presStyleIdx="0" presStyleCnt="3" custLinFactNeighborY="-60934">
        <dgm:presLayoutVars>
          <dgm:chMax val="0"/>
          <dgm:bulletEnabled val="1"/>
        </dgm:presLayoutVars>
      </dgm:prSet>
      <dgm:spPr/>
    </dgm:pt>
    <dgm:pt modelId="{56C557CF-A8F7-9F44-A283-D318DEFFB803}" type="pres">
      <dgm:prSet presAssocID="{97917156-08E1-9246-A220-C87B53ADADB5}" presName="spacer" presStyleCnt="0"/>
      <dgm:spPr/>
    </dgm:pt>
    <dgm:pt modelId="{1B7A7FB3-A7EC-D548-BEA4-2C033C191CF6}" type="pres">
      <dgm:prSet presAssocID="{18E2622B-3D75-7F4C-A89E-C28ECBE343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A61C4DD-4DFC-C244-A885-232D5787DF46}" type="pres">
      <dgm:prSet presAssocID="{ACF136DF-0622-5745-8660-CD87880D354A}" presName="spacer" presStyleCnt="0"/>
      <dgm:spPr/>
    </dgm:pt>
    <dgm:pt modelId="{B623E774-49CE-FC4A-BF5E-FC9C015B35C8}" type="pres">
      <dgm:prSet presAssocID="{B06693B7-FF3F-A24F-9FD5-B1D68D1E372A}" presName="parentText" presStyleLbl="node1" presStyleIdx="2" presStyleCnt="3" custLinFactY="47925" custLinFactNeighborX="0" custLinFactNeighborY="100000">
        <dgm:presLayoutVars>
          <dgm:chMax val="0"/>
          <dgm:bulletEnabled val="1"/>
        </dgm:presLayoutVars>
      </dgm:prSet>
      <dgm:spPr/>
    </dgm:pt>
  </dgm:ptLst>
  <dgm:cxnLst>
    <dgm:cxn modelId="{C9457006-D4D6-D54F-8CBF-FE374195676A}" srcId="{C232D102-BA84-7346-A7D8-FB4C7D45C0C6}" destId="{B06693B7-FF3F-A24F-9FD5-B1D68D1E372A}" srcOrd="2" destOrd="0" parTransId="{5126BDD5-EE4C-9342-AEE0-27778D732CA5}" sibTransId="{E952E4CF-E78C-7241-B08B-88F96685DEA7}"/>
    <dgm:cxn modelId="{6DA3722D-2A5D-E84D-A0ED-FBD361FDB374}" srcId="{C232D102-BA84-7346-A7D8-FB4C7D45C0C6}" destId="{18E2622B-3D75-7F4C-A89E-C28ECBE34396}" srcOrd="1" destOrd="0" parTransId="{F78C6D12-4695-8C45-BD3D-94865EC80BC3}" sibTransId="{ACF136DF-0622-5745-8660-CD87880D354A}"/>
    <dgm:cxn modelId="{0D94272F-38A3-614B-B582-5991BF38D612}" type="presOf" srcId="{C232D102-BA84-7346-A7D8-FB4C7D45C0C6}" destId="{C1C6D842-F39E-144F-B5B6-6408549C433F}" srcOrd="0" destOrd="0" presId="urn:microsoft.com/office/officeart/2005/8/layout/vList2"/>
    <dgm:cxn modelId="{0BEC1A55-8E38-834D-B10B-674EF4DA09F2}" srcId="{C232D102-BA84-7346-A7D8-FB4C7D45C0C6}" destId="{E73F6EEA-60F8-3E43-BA28-CAEE88680105}" srcOrd="0" destOrd="0" parTransId="{7DDA1FC8-CDAB-AC43-9273-B875F38D8C4F}" sibTransId="{97917156-08E1-9246-A220-C87B53ADADB5}"/>
    <dgm:cxn modelId="{E2B18658-278A-1E43-86DF-5B1D61BE136C}" type="presOf" srcId="{E73F6EEA-60F8-3E43-BA28-CAEE88680105}" destId="{7210C39B-38AF-AC46-95E1-65947E8B818F}" srcOrd="0" destOrd="0" presId="urn:microsoft.com/office/officeart/2005/8/layout/vList2"/>
    <dgm:cxn modelId="{D32441E5-FCEA-A24D-84B7-E4946DD207D1}" type="presOf" srcId="{B06693B7-FF3F-A24F-9FD5-B1D68D1E372A}" destId="{B623E774-49CE-FC4A-BF5E-FC9C015B35C8}" srcOrd="0" destOrd="0" presId="urn:microsoft.com/office/officeart/2005/8/layout/vList2"/>
    <dgm:cxn modelId="{F32340EA-648E-3247-BBE9-4DB454AA4121}" type="presOf" srcId="{18E2622B-3D75-7F4C-A89E-C28ECBE34396}" destId="{1B7A7FB3-A7EC-D548-BEA4-2C033C191CF6}" srcOrd="0" destOrd="0" presId="urn:microsoft.com/office/officeart/2005/8/layout/vList2"/>
    <dgm:cxn modelId="{EB24140A-1579-914E-AD96-ACF94901CD2F}" type="presParOf" srcId="{C1C6D842-F39E-144F-B5B6-6408549C433F}" destId="{7210C39B-38AF-AC46-95E1-65947E8B818F}" srcOrd="0" destOrd="0" presId="urn:microsoft.com/office/officeart/2005/8/layout/vList2"/>
    <dgm:cxn modelId="{AC7C47D3-AB44-9B43-8C60-EAC84C469562}" type="presParOf" srcId="{C1C6D842-F39E-144F-B5B6-6408549C433F}" destId="{56C557CF-A8F7-9F44-A283-D318DEFFB803}" srcOrd="1" destOrd="0" presId="urn:microsoft.com/office/officeart/2005/8/layout/vList2"/>
    <dgm:cxn modelId="{1F403064-5C58-884E-890F-54D3E8A21315}" type="presParOf" srcId="{C1C6D842-F39E-144F-B5B6-6408549C433F}" destId="{1B7A7FB3-A7EC-D548-BEA4-2C033C191CF6}" srcOrd="2" destOrd="0" presId="urn:microsoft.com/office/officeart/2005/8/layout/vList2"/>
    <dgm:cxn modelId="{08FD2584-A752-644E-ACA8-70E66A8B2074}" type="presParOf" srcId="{C1C6D842-F39E-144F-B5B6-6408549C433F}" destId="{AA61C4DD-4DFC-C244-A885-232D5787DF46}" srcOrd="3" destOrd="0" presId="urn:microsoft.com/office/officeart/2005/8/layout/vList2"/>
    <dgm:cxn modelId="{37DA3954-F7E6-2342-83AE-6DB2FCC6BEA8}" type="presParOf" srcId="{C1C6D842-F39E-144F-B5B6-6408549C433F}" destId="{B623E774-49CE-FC4A-BF5E-FC9C015B35C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098B7-B29D-704E-A72D-AB46D395A71A}">
      <dsp:nvSpPr>
        <dsp:cNvPr id="0" name=""/>
        <dsp:cNvSpPr/>
      </dsp:nvSpPr>
      <dsp:spPr>
        <a:xfrm>
          <a:off x="0" y="0"/>
          <a:ext cx="3609861" cy="486720"/>
        </a:xfrm>
        <a:prstGeom prst="roundRect">
          <a:avLst/>
        </a:prstGeom>
        <a:solidFill>
          <a:schemeClr val="bg1"/>
        </a:solidFill>
        <a:ln w="25400" cap="flat" cmpd="sng" algn="ctr">
          <a:solidFill>
            <a:srgbClr val="351C0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chemeClr val="tx1"/>
              </a:solidFill>
            </a:rPr>
            <a:t>Clear store expansion path in the U.S. 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23760" y="23760"/>
        <a:ext cx="3562341" cy="439200"/>
      </dsp:txXfrm>
    </dsp:sp>
    <dsp:sp modelId="{8DFB2EE8-28A6-EB42-B7BC-18F5379D67A0}">
      <dsp:nvSpPr>
        <dsp:cNvPr id="0" name=""/>
        <dsp:cNvSpPr/>
      </dsp:nvSpPr>
      <dsp:spPr>
        <a:xfrm>
          <a:off x="0" y="570265"/>
          <a:ext cx="3609861" cy="486720"/>
        </a:xfrm>
        <a:prstGeom prst="roundRect">
          <a:avLst/>
        </a:prstGeom>
        <a:solidFill>
          <a:schemeClr val="bg1"/>
        </a:solidFill>
        <a:ln w="25400" cap="flat" cmpd="sng" algn="ctr">
          <a:solidFill>
            <a:srgbClr val="351C0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Industry leading unit economics</a:t>
          </a:r>
        </a:p>
      </dsp:txBody>
      <dsp:txXfrm>
        <a:off x="23760" y="594025"/>
        <a:ext cx="3562341" cy="439200"/>
      </dsp:txXfrm>
    </dsp:sp>
    <dsp:sp modelId="{8D3F1745-2CDC-364F-ACC7-14EA34033C8A}">
      <dsp:nvSpPr>
        <dsp:cNvPr id="0" name=""/>
        <dsp:cNvSpPr/>
      </dsp:nvSpPr>
      <dsp:spPr>
        <a:xfrm>
          <a:off x="0" y="1131865"/>
          <a:ext cx="3609861" cy="486720"/>
        </a:xfrm>
        <a:prstGeom prst="roundRect">
          <a:avLst/>
        </a:prstGeom>
        <a:solidFill>
          <a:schemeClr val="bg1"/>
        </a:solidFill>
        <a:ln w="25400" cap="flat" cmpd="sng" algn="ctr">
          <a:solidFill>
            <a:srgbClr val="351C0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chemeClr val="tx1"/>
              </a:solidFill>
            </a:rPr>
            <a:t>Opportunity to fully develop eCommerce 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23760" y="1155625"/>
        <a:ext cx="3562341" cy="439200"/>
      </dsp:txXfrm>
    </dsp:sp>
    <dsp:sp modelId="{C8894595-6CAA-B043-A4DB-D3CB3A4EC711}">
      <dsp:nvSpPr>
        <dsp:cNvPr id="0" name=""/>
        <dsp:cNvSpPr/>
      </dsp:nvSpPr>
      <dsp:spPr>
        <a:xfrm>
          <a:off x="0" y="1702131"/>
          <a:ext cx="3609861" cy="486720"/>
        </a:xfrm>
        <a:prstGeom prst="roundRect">
          <a:avLst/>
        </a:prstGeom>
        <a:solidFill>
          <a:schemeClr val="bg1"/>
        </a:solidFill>
        <a:ln w="25400" cap="flat" cmpd="sng" algn="ctr">
          <a:solidFill>
            <a:srgbClr val="351C0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chemeClr val="tx1"/>
              </a:solidFill>
            </a:rPr>
            <a:t>Brand durability is underappreciated 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23760" y="1725891"/>
        <a:ext cx="3562341" cy="439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0C39B-38AF-AC46-95E1-65947E8B818F}">
      <dsp:nvSpPr>
        <dsp:cNvPr id="0" name=""/>
        <dsp:cNvSpPr/>
      </dsp:nvSpPr>
      <dsp:spPr>
        <a:xfrm>
          <a:off x="0" y="0"/>
          <a:ext cx="3629025" cy="599040"/>
        </a:xfrm>
        <a:prstGeom prst="roundRect">
          <a:avLst/>
        </a:prstGeom>
        <a:solidFill>
          <a:schemeClr val="bg1"/>
        </a:solidFill>
        <a:ln w="25400" cap="flat" cmpd="sng" algn="ctr">
          <a:solidFill>
            <a:srgbClr val="351C0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tx1"/>
              </a:solidFill>
            </a:rPr>
            <a:t>Only 35% of LTM revenue came online, </a:t>
          </a:r>
          <a:r>
            <a:rPr lang="en-US" sz="1400" b="1" i="0" kern="1200" dirty="0">
              <a:solidFill>
                <a:schemeClr val="tx1"/>
              </a:solidFill>
            </a:rPr>
            <a:t>lagging industry average </a:t>
          </a:r>
          <a:r>
            <a:rPr lang="en-US" sz="1400" b="0" i="0" kern="1200" dirty="0">
              <a:solidFill>
                <a:schemeClr val="tx1"/>
              </a:solidFill>
            </a:rPr>
            <a:t>of 45%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29243" y="29243"/>
        <a:ext cx="3570539" cy="540554"/>
      </dsp:txXfrm>
    </dsp:sp>
    <dsp:sp modelId="{1B7A7FB3-A7EC-D548-BEA4-2C033C191CF6}">
      <dsp:nvSpPr>
        <dsp:cNvPr id="0" name=""/>
        <dsp:cNvSpPr/>
      </dsp:nvSpPr>
      <dsp:spPr>
        <a:xfrm>
          <a:off x="0" y="716142"/>
          <a:ext cx="3629025" cy="599040"/>
        </a:xfrm>
        <a:prstGeom prst="roundRect">
          <a:avLst/>
        </a:prstGeom>
        <a:solidFill>
          <a:schemeClr val="bg1"/>
        </a:solidFill>
        <a:ln w="25400" cap="flat" cmpd="sng" algn="ctr">
          <a:solidFill>
            <a:srgbClr val="351C0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>
              <a:solidFill>
                <a:schemeClr val="tx1"/>
              </a:solidFill>
            </a:rPr>
            <a:t>Ex-CEO Brian Hill’s employed </a:t>
          </a:r>
          <a:r>
            <a:rPr lang="en-US" sz="1400" b="1" i="0" kern="1200" dirty="0">
              <a:solidFill>
                <a:schemeClr val="tx1"/>
              </a:solidFill>
            </a:rPr>
            <a:t>conservative approach </a:t>
          </a:r>
          <a:r>
            <a:rPr lang="en-US" sz="1400" b="0" i="0" kern="1200" dirty="0">
              <a:solidFill>
                <a:schemeClr val="tx1"/>
              </a:solidFill>
            </a:rPr>
            <a:t>to digital platforms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29243" y="745385"/>
        <a:ext cx="3570539" cy="540554"/>
      </dsp:txXfrm>
    </dsp:sp>
    <dsp:sp modelId="{B623E774-49CE-FC4A-BF5E-FC9C015B35C8}">
      <dsp:nvSpPr>
        <dsp:cNvPr id="0" name=""/>
        <dsp:cNvSpPr/>
      </dsp:nvSpPr>
      <dsp:spPr>
        <a:xfrm>
          <a:off x="0" y="1432285"/>
          <a:ext cx="3629025" cy="599040"/>
        </a:xfrm>
        <a:prstGeom prst="roundRect">
          <a:avLst/>
        </a:prstGeom>
        <a:solidFill>
          <a:schemeClr val="bg1"/>
        </a:solidFill>
        <a:ln w="25400" cap="flat" cmpd="sng" algn="ctr">
          <a:solidFill>
            <a:srgbClr val="351C0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 err="1">
              <a:solidFill>
                <a:schemeClr val="tx1"/>
              </a:solidFill>
            </a:rPr>
            <a:t>eComm</a:t>
          </a:r>
          <a:r>
            <a:rPr lang="en-US" sz="1400" b="0" i="0" kern="1200" dirty="0">
              <a:solidFill>
                <a:schemeClr val="tx1"/>
              </a:solidFill>
            </a:rPr>
            <a:t> attracts online buyers, increasing </a:t>
          </a:r>
          <a:r>
            <a:rPr lang="en-US" sz="1400" b="1" i="0" kern="1200" dirty="0">
              <a:solidFill>
                <a:schemeClr val="tx1"/>
              </a:solidFill>
            </a:rPr>
            <a:t>customer stickiness </a:t>
          </a:r>
          <a:r>
            <a:rPr lang="en-US" sz="1400" b="0" i="0" kern="1200" dirty="0">
              <a:solidFill>
                <a:schemeClr val="tx1"/>
              </a:solidFill>
            </a:rPr>
            <a:t>and </a:t>
          </a:r>
          <a:r>
            <a:rPr lang="en-US" sz="1400" b="1" i="0" kern="1200" dirty="0">
              <a:solidFill>
                <a:schemeClr val="tx1"/>
              </a:solidFill>
            </a:rPr>
            <a:t>sales volume</a:t>
          </a:r>
          <a:endParaRPr lang="en-US" sz="1400" b="1" kern="1200" dirty="0">
            <a:solidFill>
              <a:schemeClr val="tx1"/>
            </a:solidFill>
          </a:endParaRPr>
        </a:p>
      </dsp:txBody>
      <dsp:txXfrm>
        <a:off x="29243" y="1461528"/>
        <a:ext cx="3570539" cy="540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>
            <a:spLocks noGrp="1"/>
          </p:cNvSpPr>
          <p:nvPr>
            <p:ph type="title"/>
          </p:nvPr>
        </p:nvSpPr>
        <p:spPr>
          <a:xfrm>
            <a:off x="628650" y="290918"/>
            <a:ext cx="7886700" cy="74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+mj-l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+mn-lt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A815046-021B-6F3D-A2AE-E889723633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650" y="1214889"/>
            <a:ext cx="7886700" cy="4857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9" name="Google Shape;49;p32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0" name="Google Shape;50;p3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gi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 Next LT Pro" panose="020B05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 Next LT Pro" panose="020B0504020202020204" pitchFamily="34" charset="0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MIO_LOGOPLACEHOLDER#">
            <a:extLst>
              <a:ext uri="{FF2B5EF4-FFF2-40B4-BE49-F238E27FC236}">
                <a16:creationId xmlns:a16="http://schemas.microsoft.com/office/drawing/2014/main" id="{2ABAE8BD-2A7A-D2CB-4C4A-01F34D697E3F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627614" y="6383322"/>
            <a:ext cx="1156435" cy="2655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6;p27">
            <a:extLst>
              <a:ext uri="{FF2B5EF4-FFF2-40B4-BE49-F238E27FC236}">
                <a16:creationId xmlns:a16="http://schemas.microsoft.com/office/drawing/2014/main" id="{53C4F286-2887-EA73-6625-753F50D9EB21}"/>
              </a:ext>
            </a:extLst>
          </p:cNvPr>
          <p:cNvSpPr/>
          <p:nvPr userDrawn="1"/>
        </p:nvSpPr>
        <p:spPr>
          <a:xfrm>
            <a:off x="628650" y="1104179"/>
            <a:ext cx="7888778" cy="18288"/>
          </a:xfrm>
          <a:prstGeom prst="rect">
            <a:avLst/>
          </a:prstGeom>
          <a:solidFill>
            <a:srgbClr val="683600"/>
          </a:solidFill>
          <a:ln w="28575" cap="flat" cmpd="sng">
            <a:solidFill>
              <a:srgbClr val="683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600" tIns="36275" rIns="72600" bIns="3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072" b="0" i="0" u="none" strike="noStrike" cap="none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8;p27">
            <a:extLst>
              <a:ext uri="{FF2B5EF4-FFF2-40B4-BE49-F238E27FC236}">
                <a16:creationId xmlns:a16="http://schemas.microsoft.com/office/drawing/2014/main" id="{A8F3E658-48A2-C1A3-4669-C8C5C876A0AF}"/>
              </a:ext>
            </a:extLst>
          </p:cNvPr>
          <p:cNvSpPr/>
          <p:nvPr userDrawn="1"/>
        </p:nvSpPr>
        <p:spPr>
          <a:xfrm>
            <a:off x="627612" y="6153631"/>
            <a:ext cx="7888778" cy="18288"/>
          </a:xfrm>
          <a:prstGeom prst="rect">
            <a:avLst/>
          </a:prstGeom>
          <a:solidFill>
            <a:srgbClr val="683600"/>
          </a:solidFill>
          <a:ln w="28575" cap="flat" cmpd="sng">
            <a:solidFill>
              <a:srgbClr val="6836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2600" tIns="36275" rIns="72600" bIns="3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07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7;p27">
            <a:extLst>
              <a:ext uri="{FF2B5EF4-FFF2-40B4-BE49-F238E27FC236}">
                <a16:creationId xmlns:a16="http://schemas.microsoft.com/office/drawing/2014/main" id="{6E651CDB-3A2E-560A-C6BD-7ABDD50CD5DB}"/>
              </a:ext>
            </a:extLst>
          </p:cNvPr>
          <p:cNvSpPr/>
          <p:nvPr userDrawn="1"/>
        </p:nvSpPr>
        <p:spPr>
          <a:xfrm>
            <a:off x="-12526" y="232765"/>
            <a:ext cx="391886" cy="1190172"/>
          </a:xfrm>
          <a:prstGeom prst="rect">
            <a:avLst/>
          </a:prstGeom>
          <a:solidFill>
            <a:srgbClr val="683600"/>
          </a:solidFill>
          <a:ln>
            <a:noFill/>
          </a:ln>
        </p:spPr>
        <p:txBody>
          <a:bodyPr spcFirstLastPara="1" wrap="square" lIns="72600" tIns="36275" rIns="72600" bIns="36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072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2" descr="Aritzia - Home | Facebook">
            <a:extLst>
              <a:ext uri="{FF2B5EF4-FFF2-40B4-BE49-F238E27FC236}">
                <a16:creationId xmlns:a16="http://schemas.microsoft.com/office/drawing/2014/main" id="{113A0435-F122-3AE4-1BA1-A4F338B918E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1" t="40373" r="8365" b="39068"/>
          <a:stretch/>
        </p:blipFill>
        <p:spPr bwMode="auto">
          <a:xfrm>
            <a:off x="7000741" y="444303"/>
            <a:ext cx="1515649" cy="38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05781AD-46B1-77DA-FD01-D3BFFA2B2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34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8B3FF8-D050-40BB-DE81-068ABF84A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14889"/>
            <a:ext cx="7886700" cy="4962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+mj-lt"/>
          <a:ea typeface="Avenir Next LT Pro" panose="020B050402020202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508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600" b="0" i="0" u="none" strike="noStrike" cap="none">
          <a:solidFill>
            <a:srgbClr val="000000"/>
          </a:solidFill>
          <a:latin typeface="+mj-lt"/>
          <a:ea typeface="Book Antiqua" panose="020406020503050303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FCD9-4DFC-C312-4654-642A067B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Situation Overview</a:t>
            </a:r>
          </a:p>
        </p:txBody>
      </p:sp>
    </p:spTree>
    <p:extLst>
      <p:ext uri="{BB962C8B-B14F-4D97-AF65-F5344CB8AC3E}">
        <p14:creationId xmlns:p14="http://schemas.microsoft.com/office/powerpoint/2010/main" val="213421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7A4B-15EF-C49F-DC39-2A8A915A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193"/>
            <a:ext cx="7886700" cy="731058"/>
          </a:xfrm>
        </p:spPr>
        <p:txBody>
          <a:bodyPr/>
          <a:lstStyle/>
          <a:p>
            <a:r>
              <a:rPr lang="en-US" dirty="0"/>
              <a:t>Situation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13ED3-ABBA-CBC7-08E1-418224CCA259}"/>
              </a:ext>
            </a:extLst>
          </p:cNvPr>
          <p:cNvSpPr txBox="1"/>
          <p:nvPr/>
        </p:nvSpPr>
        <p:spPr>
          <a:xfrm>
            <a:off x="628649" y="1362073"/>
            <a:ext cx="3771900" cy="314325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Recent Earnings Print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97AF2-8F8C-EC67-4F83-5AB74CCEE5C4}"/>
              </a:ext>
            </a:extLst>
          </p:cNvPr>
          <p:cNvSpPr txBox="1"/>
          <p:nvPr/>
        </p:nvSpPr>
        <p:spPr>
          <a:xfrm>
            <a:off x="4743451" y="1362074"/>
            <a:ext cx="3771900" cy="314325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Investor Reaction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45EF8-D204-263F-4572-86859BBCB657}"/>
              </a:ext>
            </a:extLst>
          </p:cNvPr>
          <p:cNvSpPr txBox="1"/>
          <p:nvPr/>
        </p:nvSpPr>
        <p:spPr>
          <a:xfrm>
            <a:off x="621085" y="1761978"/>
            <a:ext cx="3771901" cy="5533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b="1" dirty="0">
                <a:latin typeface="+mj-lt"/>
              </a:rPr>
              <a:t>Q3 ’23: </a:t>
            </a:r>
            <a:r>
              <a:rPr lang="en-US" dirty="0">
                <a:latin typeface="+mj-lt"/>
              </a:rPr>
              <a:t>Margin compression due to costs associated with persistent high inventory</a:t>
            </a:r>
            <a:endParaRPr lang="en-US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02C1C-DAD9-FAE4-7FC5-25067C7EC1E3}"/>
              </a:ext>
            </a:extLst>
          </p:cNvPr>
          <p:cNvSpPr txBox="1"/>
          <p:nvPr/>
        </p:nvSpPr>
        <p:spPr>
          <a:xfrm>
            <a:off x="4671613" y="3161117"/>
            <a:ext cx="2106593" cy="3948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latin typeface="+mj-lt"/>
              </a:rPr>
              <a:t>Poor operations in macro backdrop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0D8CE-9D40-DCD8-11B7-21F318EA6661}"/>
              </a:ext>
            </a:extLst>
          </p:cNvPr>
          <p:cNvSpPr txBox="1"/>
          <p:nvPr/>
        </p:nvSpPr>
        <p:spPr>
          <a:xfrm>
            <a:off x="628648" y="832374"/>
            <a:ext cx="6310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Poor earnings and business quality concerns caused investor sell-off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A7213C-44C3-338B-F681-8153B830E0DB}"/>
              </a:ext>
            </a:extLst>
          </p:cNvPr>
          <p:cNvGrpSpPr/>
          <p:nvPr/>
        </p:nvGrpSpPr>
        <p:grpSpPr>
          <a:xfrm>
            <a:off x="613524" y="3565980"/>
            <a:ext cx="4129927" cy="2658778"/>
            <a:chOff x="442073" y="3528508"/>
            <a:chExt cx="4129927" cy="2658778"/>
          </a:xfrm>
        </p:grpSpPr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CC173FBA-86A4-5910-4110-57E2E736DB1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90525247"/>
                </p:ext>
              </p:extLst>
            </p:nvPr>
          </p:nvGraphicFramePr>
          <p:xfrm>
            <a:off x="442073" y="3528508"/>
            <a:ext cx="4129927" cy="265877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F2A511F-E2B5-61FF-DD0C-6797D74818A1}"/>
                </a:ext>
              </a:extLst>
            </p:cNvPr>
            <p:cNvSpPr/>
            <p:nvPr/>
          </p:nvSpPr>
          <p:spPr>
            <a:xfrm>
              <a:off x="3148966" y="4364686"/>
              <a:ext cx="111760" cy="104743"/>
            </a:xfrm>
            <a:prstGeom prst="ellipse">
              <a:avLst/>
            </a:prstGeom>
            <a:solidFill>
              <a:srgbClr val="D8A979"/>
            </a:solidFill>
            <a:ln w="12700">
              <a:solidFill>
                <a:srgbClr val="351C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5206E70-64FE-6F6F-BF4C-003031C7AEE6}"/>
                </a:ext>
              </a:extLst>
            </p:cNvPr>
            <p:cNvCxnSpPr>
              <a:cxnSpLocks/>
            </p:cNvCxnSpPr>
            <p:nvPr/>
          </p:nvCxnSpPr>
          <p:spPr>
            <a:xfrm>
              <a:off x="2926080" y="4577895"/>
              <a:ext cx="1308159" cy="618219"/>
            </a:xfrm>
            <a:prstGeom prst="straightConnector1">
              <a:avLst/>
            </a:prstGeom>
            <a:ln w="12700">
              <a:solidFill>
                <a:srgbClr val="673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A5AB820-5C82-797C-F6C2-F957C0EBBF7C}"/>
                </a:ext>
              </a:extLst>
            </p:cNvPr>
            <p:cNvSpPr/>
            <p:nvPr/>
          </p:nvSpPr>
          <p:spPr>
            <a:xfrm>
              <a:off x="3656967" y="4534562"/>
              <a:ext cx="111760" cy="104743"/>
            </a:xfrm>
            <a:prstGeom prst="ellipse">
              <a:avLst/>
            </a:prstGeom>
            <a:solidFill>
              <a:srgbClr val="D8A979"/>
            </a:solidFill>
            <a:ln w="12700">
              <a:solidFill>
                <a:srgbClr val="351C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3B60AE7-29B1-105B-4890-7112B7A4F7DA}"/>
                </a:ext>
              </a:extLst>
            </p:cNvPr>
            <p:cNvSpPr/>
            <p:nvPr/>
          </p:nvSpPr>
          <p:spPr>
            <a:xfrm>
              <a:off x="3971927" y="4707282"/>
              <a:ext cx="111760" cy="104743"/>
            </a:xfrm>
            <a:prstGeom prst="ellipse">
              <a:avLst/>
            </a:prstGeom>
            <a:solidFill>
              <a:srgbClr val="D8A979"/>
            </a:solidFill>
            <a:ln w="12700">
              <a:solidFill>
                <a:srgbClr val="351C0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D112CB6-52E0-BCCD-CBCB-5A629AB4F3C2}"/>
                </a:ext>
              </a:extLst>
            </p:cNvPr>
            <p:cNvSpPr txBox="1"/>
            <p:nvPr/>
          </p:nvSpPr>
          <p:spPr>
            <a:xfrm>
              <a:off x="1671225" y="4996284"/>
              <a:ext cx="1671622" cy="307777"/>
            </a:xfrm>
            <a:prstGeom prst="rect">
              <a:avLst/>
            </a:prstGeom>
            <a:noFill/>
            <a:ln w="38100">
              <a:solidFill>
                <a:srgbClr val="67360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D8A979"/>
                  </a:solidFill>
                  <a:latin typeface="Book Antiqua" panose="02040602050305030304" pitchFamily="18" charset="0"/>
                </a:rPr>
                <a:t> Down ~50% YTD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F7F07D9-70A6-0ED0-C45B-815DA8F12819}"/>
              </a:ext>
            </a:extLst>
          </p:cNvPr>
          <p:cNvSpPr txBox="1"/>
          <p:nvPr/>
        </p:nvSpPr>
        <p:spPr>
          <a:xfrm>
            <a:off x="628648" y="2423544"/>
            <a:ext cx="3771901" cy="5531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b="1" dirty="0">
                <a:latin typeface="+mj-lt"/>
              </a:rPr>
              <a:t>FY ’23: </a:t>
            </a:r>
            <a:r>
              <a:rPr lang="en-US" dirty="0">
                <a:latin typeface="+mj-lt"/>
              </a:rPr>
              <a:t>Weak FY24 earnings guidance due to macro, inventory &amp; distribution expenses</a:t>
            </a:r>
            <a:endParaRPr lang="en-US" b="1" dirty="0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75C1FA-D072-074C-A907-3CDC15573FCA}"/>
              </a:ext>
            </a:extLst>
          </p:cNvPr>
          <p:cNvSpPr txBox="1"/>
          <p:nvPr/>
        </p:nvSpPr>
        <p:spPr>
          <a:xfrm>
            <a:off x="628648" y="3085570"/>
            <a:ext cx="3771900" cy="5531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b="1" dirty="0">
                <a:latin typeface="+mj-lt"/>
              </a:rPr>
              <a:t>Q4 ’24: </a:t>
            </a:r>
            <a:r>
              <a:rPr lang="en-US" dirty="0">
                <a:latin typeface="+mj-lt"/>
              </a:rPr>
              <a:t>Lower sales guidance from weak consumer demand and margin reduction</a:t>
            </a:r>
            <a:endParaRPr lang="en-US" b="1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52A1B4-444F-3ECE-1AC0-A8CDEF4FD5B5}"/>
              </a:ext>
            </a:extLst>
          </p:cNvPr>
          <p:cNvSpPr txBox="1"/>
          <p:nvPr/>
        </p:nvSpPr>
        <p:spPr>
          <a:xfrm>
            <a:off x="6786164" y="1777021"/>
            <a:ext cx="1671622" cy="523220"/>
          </a:xfrm>
          <a:prstGeom prst="rect">
            <a:avLst/>
          </a:prstGeom>
          <a:noFill/>
          <a:ln w="38100">
            <a:solidFill>
              <a:srgbClr val="6736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8A979"/>
                </a:solidFill>
                <a:latin typeface="Book Antiqua" panose="02040602050305030304" pitchFamily="18" charset="0"/>
              </a:rPr>
              <a:t>Down 300 BPs in gross margin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18312D-FE56-49F3-092F-1F84EAA4B806}"/>
              </a:ext>
            </a:extLst>
          </p:cNvPr>
          <p:cNvSpPr txBox="1"/>
          <p:nvPr/>
        </p:nvSpPr>
        <p:spPr>
          <a:xfrm>
            <a:off x="6786164" y="2423263"/>
            <a:ext cx="1671622" cy="523220"/>
          </a:xfrm>
          <a:prstGeom prst="rect">
            <a:avLst/>
          </a:prstGeom>
          <a:noFill/>
          <a:ln w="38100">
            <a:solidFill>
              <a:srgbClr val="6736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8A979"/>
                </a:solidFill>
                <a:latin typeface="Book Antiqua" panose="02040602050305030304" pitchFamily="18" charset="0"/>
              </a:rPr>
              <a:t>Projected FY loss 400 BPs EBITDA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CD59CB-4E96-8FB8-6A3A-ECF0D5410E08}"/>
              </a:ext>
            </a:extLst>
          </p:cNvPr>
          <p:cNvSpPr txBox="1"/>
          <p:nvPr/>
        </p:nvSpPr>
        <p:spPr>
          <a:xfrm>
            <a:off x="6786164" y="3100543"/>
            <a:ext cx="1671622" cy="523220"/>
          </a:xfrm>
          <a:prstGeom prst="rect">
            <a:avLst/>
          </a:prstGeom>
          <a:noFill/>
          <a:ln w="38100">
            <a:solidFill>
              <a:srgbClr val="6736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D8A979"/>
                </a:solidFill>
                <a:latin typeface="Book Antiqua" panose="02040602050305030304" pitchFamily="18" charset="0"/>
              </a:rPr>
              <a:t>Revision of 6-7% decline in sales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BFA581-026D-2A68-48FC-F4CCBF2FB05C}"/>
              </a:ext>
            </a:extLst>
          </p:cNvPr>
          <p:cNvSpPr txBox="1"/>
          <p:nvPr/>
        </p:nvSpPr>
        <p:spPr>
          <a:xfrm>
            <a:off x="4671614" y="2418758"/>
            <a:ext cx="2106592" cy="3948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latin typeface="+mj-lt"/>
              </a:rPr>
              <a:t>Structurally lower profitable retailer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7DF2DE-5203-42BF-CEBF-1E5E03430D14}"/>
              </a:ext>
            </a:extLst>
          </p:cNvPr>
          <p:cNvSpPr txBox="1"/>
          <p:nvPr/>
        </p:nvSpPr>
        <p:spPr>
          <a:xfrm>
            <a:off x="4751016" y="1777021"/>
            <a:ext cx="1962918" cy="3948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latin typeface="+mj-lt"/>
              </a:rPr>
              <a:t>Inventory mishap hurts LT brand image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44572A3-2E85-DB5D-0ECC-32B3FBD56A41}"/>
              </a:ext>
            </a:extLst>
          </p:cNvPr>
          <p:cNvCxnSpPr>
            <a:cxnSpLocks/>
          </p:cNvCxnSpPr>
          <p:nvPr/>
        </p:nvCxnSpPr>
        <p:spPr>
          <a:xfrm>
            <a:off x="4480344" y="2041829"/>
            <a:ext cx="270672" cy="2896"/>
          </a:xfrm>
          <a:prstGeom prst="straightConnector1">
            <a:avLst/>
          </a:prstGeom>
          <a:ln w="12700">
            <a:solidFill>
              <a:srgbClr val="673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D6A6287-D39C-7462-CB1D-33B6B0D9553D}"/>
              </a:ext>
            </a:extLst>
          </p:cNvPr>
          <p:cNvCxnSpPr>
            <a:cxnSpLocks/>
          </p:cNvCxnSpPr>
          <p:nvPr/>
        </p:nvCxnSpPr>
        <p:spPr>
          <a:xfrm>
            <a:off x="4480344" y="2686725"/>
            <a:ext cx="270672" cy="2896"/>
          </a:xfrm>
          <a:prstGeom prst="straightConnector1">
            <a:avLst/>
          </a:prstGeom>
          <a:ln w="12700">
            <a:solidFill>
              <a:srgbClr val="673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DB7FFC8-F0D7-D52A-A2D1-18F01A6BE19A}"/>
              </a:ext>
            </a:extLst>
          </p:cNvPr>
          <p:cNvCxnSpPr>
            <a:cxnSpLocks/>
          </p:cNvCxnSpPr>
          <p:nvPr/>
        </p:nvCxnSpPr>
        <p:spPr>
          <a:xfrm>
            <a:off x="4470610" y="3360705"/>
            <a:ext cx="270672" cy="2896"/>
          </a:xfrm>
          <a:prstGeom prst="straightConnector1">
            <a:avLst/>
          </a:prstGeom>
          <a:ln w="12700">
            <a:solidFill>
              <a:srgbClr val="673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630C5448-4505-7DF7-3FD3-B46CA9487F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3482517"/>
              </p:ext>
            </p:extLst>
          </p:nvPr>
        </p:nvGraphicFramePr>
        <p:xfrm>
          <a:off x="4707589" y="3826450"/>
          <a:ext cx="3908929" cy="2368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946012C-E2B6-7C77-54AD-F78E7DEFD0A9}"/>
              </a:ext>
            </a:extLst>
          </p:cNvPr>
          <p:cNvCxnSpPr>
            <a:cxnSpLocks/>
          </p:cNvCxnSpPr>
          <p:nvPr/>
        </p:nvCxnSpPr>
        <p:spPr>
          <a:xfrm flipV="1">
            <a:off x="5789298" y="4506901"/>
            <a:ext cx="924636" cy="726685"/>
          </a:xfrm>
          <a:prstGeom prst="straightConnector1">
            <a:avLst/>
          </a:prstGeom>
          <a:ln w="12700">
            <a:solidFill>
              <a:srgbClr val="673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A61F288-7D1A-BAB0-E0DF-5C300FC15B4B}"/>
              </a:ext>
            </a:extLst>
          </p:cNvPr>
          <p:cNvCxnSpPr>
            <a:cxnSpLocks/>
          </p:cNvCxnSpPr>
          <p:nvPr/>
        </p:nvCxnSpPr>
        <p:spPr>
          <a:xfrm>
            <a:off x="6938682" y="4467567"/>
            <a:ext cx="1338419" cy="0"/>
          </a:xfrm>
          <a:prstGeom prst="straightConnector1">
            <a:avLst/>
          </a:prstGeom>
          <a:ln w="12700">
            <a:solidFill>
              <a:srgbClr val="673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4AC215B0-D049-F677-B385-9A94E8649BE6}"/>
              </a:ext>
            </a:extLst>
          </p:cNvPr>
          <p:cNvSpPr/>
          <p:nvPr/>
        </p:nvSpPr>
        <p:spPr>
          <a:xfrm>
            <a:off x="6909362" y="4636624"/>
            <a:ext cx="111760" cy="104743"/>
          </a:xfrm>
          <a:prstGeom prst="ellipse">
            <a:avLst/>
          </a:prstGeom>
          <a:solidFill>
            <a:srgbClr val="D8A979"/>
          </a:solidFill>
          <a:ln w="12700">
            <a:solidFill>
              <a:srgbClr val="351C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0AB1BB0-C240-2EB0-858D-02B0064E0B82}"/>
              </a:ext>
            </a:extLst>
          </p:cNvPr>
          <p:cNvSpPr/>
          <p:nvPr/>
        </p:nvSpPr>
        <p:spPr>
          <a:xfrm>
            <a:off x="8202538" y="4540599"/>
            <a:ext cx="111760" cy="104743"/>
          </a:xfrm>
          <a:prstGeom prst="ellipse">
            <a:avLst/>
          </a:prstGeom>
          <a:solidFill>
            <a:srgbClr val="D8A979"/>
          </a:solidFill>
          <a:ln w="12700">
            <a:solidFill>
              <a:srgbClr val="351C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B8A634-7B4B-BF6E-43F2-917991D8A3F4}"/>
              </a:ext>
            </a:extLst>
          </p:cNvPr>
          <p:cNvSpPr txBox="1"/>
          <p:nvPr/>
        </p:nvSpPr>
        <p:spPr>
          <a:xfrm rot="19281648">
            <a:off x="4908548" y="4544452"/>
            <a:ext cx="2106593" cy="3948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b="1" dirty="0">
                <a:latin typeface="+mj-lt"/>
              </a:rPr>
              <a:t>Management ordered inventory too early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272F1C-DD23-AA23-FB4E-68AEB6E82364}"/>
              </a:ext>
            </a:extLst>
          </p:cNvPr>
          <p:cNvSpPr txBox="1"/>
          <p:nvPr/>
        </p:nvSpPr>
        <p:spPr>
          <a:xfrm>
            <a:off x="6568678" y="4184736"/>
            <a:ext cx="2106593" cy="3948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b="1" dirty="0">
                <a:latin typeface="+mj-lt"/>
              </a:rPr>
              <a:t>High levels = High costs</a:t>
            </a:r>
          </a:p>
        </p:txBody>
      </p:sp>
    </p:spTree>
    <p:extLst>
      <p:ext uri="{BB962C8B-B14F-4D97-AF65-F5344CB8AC3E}">
        <p14:creationId xmlns:p14="http://schemas.microsoft.com/office/powerpoint/2010/main" val="148853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538F-9078-8E91-35DB-375C2735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2433"/>
            <a:ext cx="7886700" cy="744583"/>
          </a:xfrm>
        </p:spPr>
        <p:txBody>
          <a:bodyPr/>
          <a:lstStyle/>
          <a:p>
            <a:r>
              <a:rPr lang="en-US" dirty="0"/>
              <a:t>Situation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E85B-64A9-68E5-EFF0-9A816C81D80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895401" y="1977443"/>
            <a:ext cx="3534443" cy="1331016"/>
          </a:xfrm>
        </p:spPr>
        <p:txBody>
          <a:bodyPr>
            <a:normAutofit fontScale="92500"/>
          </a:bodyPr>
          <a:lstStyle/>
          <a:p>
            <a:pPr marL="336550" indent="-285750">
              <a:buFont typeface="Arial" panose="020B0604020202020204" pitchFamily="34" charset="0"/>
              <a:buChar char="•"/>
            </a:pPr>
            <a:r>
              <a:rPr lang="en-US" sz="1400" dirty="0"/>
              <a:t>Inventory situation is transitory and will subdue in the near-term</a:t>
            </a:r>
          </a:p>
          <a:p>
            <a:pPr marL="336550" indent="-285750">
              <a:buFont typeface="Arial" panose="020B0604020202020204" pitchFamily="34" charset="0"/>
              <a:buChar char="•"/>
            </a:pPr>
            <a:r>
              <a:rPr lang="en-US" sz="1400" dirty="0"/>
              <a:t>Macro environment and consumer demand will eventually normalize</a:t>
            </a:r>
          </a:p>
          <a:p>
            <a:pPr marL="336550" indent="-285750">
              <a:buFont typeface="Arial" panose="020B0604020202020204" pitchFamily="34" charset="0"/>
              <a:buChar char="•"/>
            </a:pPr>
            <a:r>
              <a:rPr lang="en-US" sz="1400" dirty="0"/>
              <a:t>ATZ historical success is not fad-driven with several brand execution factors</a:t>
            </a:r>
          </a:p>
          <a:p>
            <a:pPr marL="3365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91378-332C-4D02-01D7-E9F9DCE87E7C}"/>
              </a:ext>
            </a:extLst>
          </p:cNvPr>
          <p:cNvSpPr txBox="1"/>
          <p:nvPr/>
        </p:nvSpPr>
        <p:spPr>
          <a:xfrm>
            <a:off x="628648" y="1385909"/>
            <a:ext cx="7886700" cy="314325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Do we believe current issues are short-term?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C375C-0AF7-89E0-3856-129DFC517F9A}"/>
              </a:ext>
            </a:extLst>
          </p:cNvPr>
          <p:cNvSpPr txBox="1"/>
          <p:nvPr/>
        </p:nvSpPr>
        <p:spPr>
          <a:xfrm>
            <a:off x="628648" y="821616"/>
            <a:ext cx="6310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Sell-side’s short term view creates an attractive investment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37E62-DEA2-6A6F-9291-F3F113A6AFBA}"/>
              </a:ext>
            </a:extLst>
          </p:cNvPr>
          <p:cNvSpPr txBox="1"/>
          <p:nvPr/>
        </p:nvSpPr>
        <p:spPr>
          <a:xfrm>
            <a:off x="4905487" y="3440219"/>
            <a:ext cx="3609861" cy="307777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Time Arbitrage Opportunity</a:t>
            </a:r>
          </a:p>
        </p:txBody>
      </p:sp>
      <p:graphicFrame>
        <p:nvGraphicFramePr>
          <p:cNvPr id="27" name="Diagram 26">
            <a:extLst>
              <a:ext uri="{FF2B5EF4-FFF2-40B4-BE49-F238E27FC236}">
                <a16:creationId xmlns:a16="http://schemas.microsoft.com/office/drawing/2014/main" id="{7B10696E-16B5-2930-CD53-02476A1E2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9810188"/>
              </p:ext>
            </p:extLst>
          </p:nvPr>
        </p:nvGraphicFramePr>
        <p:xfrm>
          <a:off x="628648" y="3881537"/>
          <a:ext cx="3609861" cy="2188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CB40AB7-AD35-D1C3-6847-0F406C5AD4D8}"/>
              </a:ext>
            </a:extLst>
          </p:cNvPr>
          <p:cNvSpPr txBox="1">
            <a:spLocks/>
          </p:cNvSpPr>
          <p:nvPr/>
        </p:nvSpPr>
        <p:spPr>
          <a:xfrm>
            <a:off x="1567591" y="1680172"/>
            <a:ext cx="2130014" cy="40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+mj-lt"/>
                <a:ea typeface="Book Antiqua" panose="02040602050305030304" pitchFamily="18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Sell Side View</a:t>
            </a:r>
          </a:p>
        </p:txBody>
      </p:sp>
      <p:sp>
        <p:nvSpPr>
          <p:cNvPr id="16" name="Circular Arrow 15">
            <a:extLst>
              <a:ext uri="{FF2B5EF4-FFF2-40B4-BE49-F238E27FC236}">
                <a16:creationId xmlns:a16="http://schemas.microsoft.com/office/drawing/2014/main" id="{8C490C5B-1390-01D2-8DC7-096CFE092505}"/>
              </a:ext>
            </a:extLst>
          </p:cNvPr>
          <p:cNvSpPr/>
          <p:nvPr/>
        </p:nvSpPr>
        <p:spPr>
          <a:xfrm rot="5400000" flipV="1">
            <a:off x="68790" y="3113646"/>
            <a:ext cx="1034541" cy="1150610"/>
          </a:xfrm>
          <a:prstGeom prst="circularArrow">
            <a:avLst/>
          </a:prstGeom>
          <a:solidFill>
            <a:srgbClr val="D8A9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B9846B-A303-1DFE-D154-F982070F0E00}"/>
              </a:ext>
            </a:extLst>
          </p:cNvPr>
          <p:cNvSpPr txBox="1"/>
          <p:nvPr/>
        </p:nvSpPr>
        <p:spPr>
          <a:xfrm>
            <a:off x="628648" y="3459893"/>
            <a:ext cx="3609861" cy="307777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Conviction in LT Business Quality?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FB9C441D-F7E7-429B-1362-1635C204FF13}"/>
              </a:ext>
            </a:extLst>
          </p:cNvPr>
          <p:cNvSpPr/>
          <p:nvPr/>
        </p:nvSpPr>
        <p:spPr>
          <a:xfrm>
            <a:off x="4295327" y="4749741"/>
            <a:ext cx="553341" cy="264422"/>
          </a:xfrm>
          <a:prstGeom prst="rightArrow">
            <a:avLst>
              <a:gd name="adj1" fmla="val 41863"/>
              <a:gd name="adj2" fmla="val 50000"/>
            </a:avLst>
          </a:prstGeom>
          <a:solidFill>
            <a:srgbClr val="D8A9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D8A979"/>
                </a:solidFill>
              </a:ln>
              <a:solidFill>
                <a:srgbClr val="D8A979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1AD4E9-0867-5E9F-8358-5C62DD9FFB52}"/>
              </a:ext>
            </a:extLst>
          </p:cNvPr>
          <p:cNvCxnSpPr>
            <a:cxnSpLocks/>
          </p:cNvCxnSpPr>
          <p:nvPr/>
        </p:nvCxnSpPr>
        <p:spPr>
          <a:xfrm>
            <a:off x="5001745" y="1965848"/>
            <a:ext cx="3428103" cy="0"/>
          </a:xfrm>
          <a:prstGeom prst="line">
            <a:avLst/>
          </a:prstGeom>
          <a:ln w="19050">
            <a:solidFill>
              <a:srgbClr val="351C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B5186A6-944B-0FAC-47D1-3A869BF260A7}"/>
              </a:ext>
            </a:extLst>
          </p:cNvPr>
          <p:cNvSpPr txBox="1">
            <a:spLocks/>
          </p:cNvSpPr>
          <p:nvPr/>
        </p:nvSpPr>
        <p:spPr>
          <a:xfrm>
            <a:off x="5988534" y="1672374"/>
            <a:ext cx="2130014" cy="400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+mj-lt"/>
                <a:ea typeface="Book Antiqua" panose="02040602050305030304" pitchFamily="18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Variant View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1286BD-A2AF-C010-6836-742E758A0DF4}"/>
              </a:ext>
            </a:extLst>
          </p:cNvPr>
          <p:cNvSpPr txBox="1">
            <a:spLocks/>
          </p:cNvSpPr>
          <p:nvPr/>
        </p:nvSpPr>
        <p:spPr>
          <a:xfrm>
            <a:off x="4916244" y="3892294"/>
            <a:ext cx="3609862" cy="2179190"/>
          </a:xfrm>
          <a:prstGeom prst="rect">
            <a:avLst/>
          </a:prstGeom>
          <a:ln w="19050">
            <a:solidFill>
              <a:srgbClr val="351C04"/>
            </a:solidFill>
            <a:prstDash val="dash"/>
          </a:ln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+mj-lt"/>
                <a:ea typeface="Book Antiqua" panose="02040602050305030304" pitchFamily="18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/>
              <a:t>Institutional investors sell off stock due to depressed short term outlook</a:t>
            </a:r>
          </a:p>
          <a:p>
            <a:pPr algn="ctr"/>
            <a:r>
              <a:rPr lang="en-US" sz="1200" dirty="0"/>
              <a:t>+</a:t>
            </a:r>
          </a:p>
          <a:p>
            <a:pPr algn="ctr"/>
            <a:r>
              <a:rPr lang="en-US" sz="1200" dirty="0"/>
              <a:t>We have conviction that long term business fundamentals will be strong</a:t>
            </a:r>
          </a:p>
          <a:p>
            <a:pPr algn="ctr"/>
            <a:r>
              <a:rPr lang="en-US" sz="1200" dirty="0"/>
              <a:t>=</a:t>
            </a:r>
          </a:p>
          <a:p>
            <a:pPr algn="ctr"/>
            <a:r>
              <a:rPr lang="en-US" sz="1200" u="sng" dirty="0"/>
              <a:t>Opportunity created through our time horizon</a:t>
            </a:r>
          </a:p>
          <a:p>
            <a:pPr marL="3365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8E065A-244D-AB51-BA1A-E774EABE2DEA}"/>
              </a:ext>
            </a:extLst>
          </p:cNvPr>
          <p:cNvSpPr txBox="1"/>
          <p:nvPr/>
        </p:nvSpPr>
        <p:spPr>
          <a:xfrm>
            <a:off x="5008917" y="5331724"/>
            <a:ext cx="34209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IAG’s investment philosophy is to buy high quality companies that are trading at attractive, low prices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676D80-29AD-2D13-31D8-F0F3E1DE6652}"/>
              </a:ext>
            </a:extLst>
          </p:cNvPr>
          <p:cNvCxnSpPr>
            <a:cxnSpLocks/>
          </p:cNvCxnSpPr>
          <p:nvPr/>
        </p:nvCxnSpPr>
        <p:spPr>
          <a:xfrm>
            <a:off x="719526" y="1965848"/>
            <a:ext cx="3428103" cy="0"/>
          </a:xfrm>
          <a:prstGeom prst="line">
            <a:avLst/>
          </a:prstGeom>
          <a:ln w="19050">
            <a:solidFill>
              <a:srgbClr val="351C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9319A3B-A78C-AD96-4048-BBAD7D4CB776}"/>
              </a:ext>
            </a:extLst>
          </p:cNvPr>
          <p:cNvCxnSpPr>
            <a:cxnSpLocks/>
          </p:cNvCxnSpPr>
          <p:nvPr/>
        </p:nvCxnSpPr>
        <p:spPr>
          <a:xfrm flipH="1">
            <a:off x="4571997" y="1743266"/>
            <a:ext cx="1" cy="1645394"/>
          </a:xfrm>
          <a:prstGeom prst="line">
            <a:avLst/>
          </a:prstGeom>
          <a:ln w="19050">
            <a:solidFill>
              <a:srgbClr val="351C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C009C224-C87E-0FF3-770C-4E1B4D391437}"/>
              </a:ext>
            </a:extLst>
          </p:cNvPr>
          <p:cNvSpPr txBox="1">
            <a:spLocks/>
          </p:cNvSpPr>
          <p:nvPr/>
        </p:nvSpPr>
        <p:spPr>
          <a:xfrm>
            <a:off x="543028" y="2003778"/>
            <a:ext cx="3709264" cy="13310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+mj-lt"/>
                <a:ea typeface="Book Antiqua" panose="02040602050305030304" pitchFamily="18" charset="0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36550" indent="-285750">
              <a:buFont typeface="Arial" panose="020B0604020202020204" pitchFamily="34" charset="0"/>
              <a:buChar char="•"/>
            </a:pPr>
            <a:r>
              <a:rPr lang="en-US" sz="1400" dirty="0"/>
              <a:t>Margins will fail to recover from inventory de-stocking and warehouse costs</a:t>
            </a:r>
          </a:p>
          <a:p>
            <a:pPr marL="336550" indent="-285750">
              <a:buFont typeface="Arial" panose="020B0604020202020204" pitchFamily="34" charset="0"/>
              <a:buChar char="•"/>
            </a:pPr>
            <a:r>
              <a:rPr lang="en-US" sz="1400" dirty="0"/>
              <a:t>ATZ will face difficulty recovering sales with macro affecting consumer demand</a:t>
            </a:r>
          </a:p>
          <a:p>
            <a:pPr marL="336550" indent="-285750">
              <a:buFont typeface="Arial" panose="020B0604020202020204" pitchFamily="34" charset="0"/>
              <a:buChar char="•"/>
            </a:pPr>
            <a:r>
              <a:rPr lang="en-US" sz="1400" dirty="0"/>
              <a:t>Fear of a ‘fad’ business that over-earned and will gradually lose wallet share</a:t>
            </a:r>
          </a:p>
        </p:txBody>
      </p:sp>
    </p:spTree>
    <p:extLst>
      <p:ext uri="{BB962C8B-B14F-4D97-AF65-F5344CB8AC3E}">
        <p14:creationId xmlns:p14="http://schemas.microsoft.com/office/powerpoint/2010/main" val="1338437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FCD9-4DFC-C312-4654-642A067B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Thesis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3FE64-63F8-4E08-4762-E7EB65760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Path to Sales Target</a:t>
            </a:r>
          </a:p>
        </p:txBody>
      </p:sp>
    </p:spTree>
    <p:extLst>
      <p:ext uri="{BB962C8B-B14F-4D97-AF65-F5344CB8AC3E}">
        <p14:creationId xmlns:p14="http://schemas.microsoft.com/office/powerpoint/2010/main" val="20478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538F-9078-8E91-35DB-375C2735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1675"/>
            <a:ext cx="7886700" cy="744583"/>
          </a:xfrm>
        </p:spPr>
        <p:txBody>
          <a:bodyPr/>
          <a:lstStyle/>
          <a:p>
            <a:r>
              <a:rPr lang="en-US" dirty="0"/>
              <a:t>Thesis 1: Clear Path to Sales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E85B-64A9-68E5-EFF0-9A816C81D80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650" y="1676399"/>
            <a:ext cx="3629024" cy="439592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91378-332C-4D02-01D7-E9F9DCE87E7C}"/>
              </a:ext>
            </a:extLst>
          </p:cNvPr>
          <p:cNvSpPr txBox="1"/>
          <p:nvPr/>
        </p:nvSpPr>
        <p:spPr>
          <a:xfrm>
            <a:off x="628649" y="1362074"/>
            <a:ext cx="3629025" cy="314325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C375C-0AF7-89E0-3856-129DFC517F9A}"/>
              </a:ext>
            </a:extLst>
          </p:cNvPr>
          <p:cNvSpPr txBox="1"/>
          <p:nvPr/>
        </p:nvSpPr>
        <p:spPr>
          <a:xfrm>
            <a:off x="628648" y="821616"/>
            <a:ext cx="6310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Incremental revenues through expansion in U.S. whitespace</a:t>
            </a:r>
          </a:p>
        </p:txBody>
      </p:sp>
    </p:spTree>
    <p:extLst>
      <p:ext uri="{BB962C8B-B14F-4D97-AF65-F5344CB8AC3E}">
        <p14:creationId xmlns:p14="http://schemas.microsoft.com/office/powerpoint/2010/main" val="1016473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538F-9078-8E91-35DB-375C2735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1675"/>
            <a:ext cx="7886700" cy="744583"/>
          </a:xfrm>
        </p:spPr>
        <p:txBody>
          <a:bodyPr/>
          <a:lstStyle/>
          <a:p>
            <a:r>
              <a:rPr lang="en-US" dirty="0"/>
              <a:t>Thesis 1: Clear Path to Sales Target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91378-332C-4D02-01D7-E9F9DCE87E7C}"/>
              </a:ext>
            </a:extLst>
          </p:cNvPr>
          <p:cNvSpPr txBox="1"/>
          <p:nvPr/>
        </p:nvSpPr>
        <p:spPr>
          <a:xfrm>
            <a:off x="628648" y="1362074"/>
            <a:ext cx="3629025" cy="307777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eCommerce Is Underdeveloped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C375C-0AF7-89E0-3856-129DFC517F9A}"/>
              </a:ext>
            </a:extLst>
          </p:cNvPr>
          <p:cNvSpPr txBox="1"/>
          <p:nvPr/>
        </p:nvSpPr>
        <p:spPr>
          <a:xfrm>
            <a:off x="628648" y="821616"/>
            <a:ext cx="6310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Low hanging fruit with eCommerce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AB0D7F1-A030-C9BE-A147-91DF6C69BA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0068688"/>
              </p:ext>
            </p:extLst>
          </p:nvPr>
        </p:nvGraphicFramePr>
        <p:xfrm>
          <a:off x="4886328" y="3816496"/>
          <a:ext cx="3437742" cy="2355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63992946-AA32-96BA-A4EC-27EA3E09E6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6210720"/>
              </p:ext>
            </p:extLst>
          </p:nvPr>
        </p:nvGraphicFramePr>
        <p:xfrm>
          <a:off x="628646" y="1785171"/>
          <a:ext cx="3629025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FAB04DA-5CA9-3FA2-09E8-48CDF279A92D}"/>
              </a:ext>
            </a:extLst>
          </p:cNvPr>
          <p:cNvSpPr txBox="1"/>
          <p:nvPr/>
        </p:nvSpPr>
        <p:spPr>
          <a:xfrm>
            <a:off x="4886329" y="1362074"/>
            <a:ext cx="3629025" cy="314325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Catalysts for eCommerce Growth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1D8DDC-EBD0-DE08-E41B-9D1FAF5BB72A}"/>
              </a:ext>
            </a:extLst>
          </p:cNvPr>
          <p:cNvSpPr txBox="1"/>
          <p:nvPr/>
        </p:nvSpPr>
        <p:spPr>
          <a:xfrm>
            <a:off x="4886327" y="1769272"/>
            <a:ext cx="3629021" cy="2031325"/>
          </a:xfrm>
          <a:prstGeom prst="rect">
            <a:avLst/>
          </a:prstGeom>
          <a:noFill/>
          <a:ln w="19050">
            <a:solidFill>
              <a:srgbClr val="351C0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Book Antiqua" panose="02040602050305030304" pitchFamily="18" charset="0"/>
              </a:rPr>
              <a:t>CEO Jennifer Wong</a:t>
            </a:r>
          </a:p>
          <a:p>
            <a:pPr marL="285750" lvl="8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New CEO Jennifer Wong </a:t>
            </a:r>
            <a:r>
              <a:rPr lang="en-US" b="1" dirty="0">
                <a:latin typeface="Book Antiqua" panose="02040602050305030304" pitchFamily="18" charset="0"/>
              </a:rPr>
              <a:t>pushing eCommerce </a:t>
            </a:r>
            <a:r>
              <a:rPr lang="en-US" dirty="0">
                <a:latin typeface="Book Antiqua" panose="02040602050305030304" pitchFamily="18" charset="0"/>
              </a:rPr>
              <a:t>and LT 45% revenue mix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Already built </a:t>
            </a:r>
            <a:r>
              <a:rPr lang="en-US" b="1" dirty="0">
                <a:latin typeface="Book Antiqua" panose="02040602050305030304" pitchFamily="18" charset="0"/>
              </a:rPr>
              <a:t>eCommerce 2.0 platform</a:t>
            </a:r>
          </a:p>
          <a:p>
            <a:pPr lvl="2" algn="ctr"/>
            <a:r>
              <a:rPr lang="en-US" b="1" u="sng" dirty="0">
                <a:latin typeface="Book Antiqua" panose="02040602050305030304" pitchFamily="18" charset="0"/>
              </a:rPr>
              <a:t>Store expansion 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Opening first store in city drives </a:t>
            </a:r>
            <a:r>
              <a:rPr lang="en-US" b="1" dirty="0">
                <a:latin typeface="Book Antiqua" panose="02040602050305030304" pitchFamily="18" charset="0"/>
              </a:rPr>
              <a:t>Google Searches up by 2-3 times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Book Antiqua" panose="02040602050305030304" pitchFamily="18" charset="0"/>
              </a:rPr>
              <a:t>80% uplift online </a:t>
            </a:r>
            <a:r>
              <a:rPr lang="en-US" dirty="0">
                <a:latin typeface="Book Antiqua" panose="02040602050305030304" pitchFamily="18" charset="0"/>
              </a:rPr>
              <a:t>sales after 1 store in city is built</a:t>
            </a:r>
          </a:p>
        </p:txBody>
      </p:sp>
      <p:pic>
        <p:nvPicPr>
          <p:cNvPr id="2050" name="Picture 2" descr="How 39-Year-Old Canadian Retailer Aritzia Suddenly Became A Fashion Icon  And Made Its Founder A Near Billionaire">
            <a:extLst>
              <a:ext uri="{FF2B5EF4-FFF2-40B4-BE49-F238E27FC236}">
                <a16:creationId xmlns:a16="http://schemas.microsoft.com/office/drawing/2014/main" id="{CC49087D-A693-9A6F-57AE-37D2A9537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08" y="3948056"/>
            <a:ext cx="1191409" cy="1191409"/>
          </a:xfrm>
          <a:prstGeom prst="rect">
            <a:avLst/>
          </a:prstGeom>
          <a:noFill/>
          <a:ln w="19050">
            <a:solidFill>
              <a:srgbClr val="351C0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ritzia CEO Jennifer Wong's remarkable rise from salesperson to boss |  Financial Post">
            <a:extLst>
              <a:ext uri="{FF2B5EF4-FFF2-40B4-BE49-F238E27FC236}">
                <a16:creationId xmlns:a16="http://schemas.microsoft.com/office/drawing/2014/main" id="{AFD3A751-414C-A3F0-B449-E6C627CF4A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3" r="11527"/>
          <a:stretch/>
        </p:blipFill>
        <p:spPr bwMode="auto">
          <a:xfrm>
            <a:off x="2737822" y="4801943"/>
            <a:ext cx="1269402" cy="1191409"/>
          </a:xfrm>
          <a:prstGeom prst="rect">
            <a:avLst/>
          </a:prstGeom>
          <a:noFill/>
          <a:ln w="19050">
            <a:solidFill>
              <a:srgbClr val="351C0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C682CC4C-6682-A138-58AE-77632D24B575}"/>
              </a:ext>
            </a:extLst>
          </p:cNvPr>
          <p:cNvSpPr/>
          <p:nvPr/>
        </p:nvSpPr>
        <p:spPr>
          <a:xfrm>
            <a:off x="2556118" y="3948056"/>
            <a:ext cx="1632809" cy="785309"/>
          </a:xfrm>
          <a:prstGeom prst="horizontalScroll">
            <a:avLst/>
          </a:prstGeom>
          <a:solidFill>
            <a:schemeClr val="bg1"/>
          </a:solidFill>
          <a:ln>
            <a:solidFill>
              <a:srgbClr val="351C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i="0" dirty="0">
                <a:solidFill>
                  <a:srgbClr val="333333"/>
                </a:solidFill>
                <a:effectLst/>
                <a:latin typeface="Book Antiqua" panose="02040602050305030304" pitchFamily="18" charset="0"/>
              </a:rPr>
              <a:t>“I </a:t>
            </a:r>
            <a:r>
              <a:rPr lang="en-US" sz="1000" b="0" i="0" u="sng" dirty="0">
                <a:solidFill>
                  <a:srgbClr val="333333"/>
                </a:solidFill>
                <a:effectLst/>
                <a:latin typeface="Book Antiqua" panose="02040602050305030304" pitchFamily="18" charset="0"/>
              </a:rPr>
              <a:t>don't even think he has a laptop still. He’s brick and mortar”</a:t>
            </a:r>
            <a:r>
              <a:rPr lang="en-US" sz="1000" dirty="0">
                <a:latin typeface="Book Antiqua" panose="02040602050305030304" pitchFamily="18" charset="0"/>
              </a:rPr>
              <a:t>“</a:t>
            </a:r>
          </a:p>
        </p:txBody>
      </p:sp>
      <p:sp>
        <p:nvSpPr>
          <p:cNvPr id="14" name="Horizontal Scroll 13">
            <a:extLst>
              <a:ext uri="{FF2B5EF4-FFF2-40B4-BE49-F238E27FC236}">
                <a16:creationId xmlns:a16="http://schemas.microsoft.com/office/drawing/2014/main" id="{8B650B44-3B6C-5611-7445-79A6E3092B36}"/>
              </a:ext>
            </a:extLst>
          </p:cNvPr>
          <p:cNvSpPr/>
          <p:nvPr/>
        </p:nvSpPr>
        <p:spPr>
          <a:xfrm>
            <a:off x="718822" y="5237624"/>
            <a:ext cx="1714505" cy="785309"/>
          </a:xfrm>
          <a:prstGeom prst="horizontalScroll">
            <a:avLst/>
          </a:prstGeom>
          <a:solidFill>
            <a:schemeClr val="bg1"/>
          </a:solidFill>
          <a:ln>
            <a:solidFill>
              <a:srgbClr val="351C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0" i="0" dirty="0">
                <a:solidFill>
                  <a:srgbClr val="333333"/>
                </a:solidFill>
                <a:effectLst/>
                <a:latin typeface="Book Antiqua" panose="02040602050305030304" pitchFamily="18" charset="0"/>
              </a:rPr>
              <a:t>“</a:t>
            </a:r>
            <a:r>
              <a:rPr lang="en-US" sz="1100" u="sng" dirty="0">
                <a:solidFill>
                  <a:srgbClr val="333333"/>
                </a:solidFill>
                <a:latin typeface="Times New Roman" panose="02020603050405020304" pitchFamily="18" charset="0"/>
              </a:rPr>
              <a:t>S</a:t>
            </a:r>
            <a:r>
              <a:rPr lang="en-US" sz="1100" b="0" i="0" u="sng" dirty="0">
                <a:solidFill>
                  <a:srgbClr val="333333"/>
                </a:solidFill>
                <a:effectLst/>
                <a:latin typeface="Times New Roman" panose="02020603050405020304" pitchFamily="18" charset="0"/>
              </a:rPr>
              <a:t>he's the fast mover” “The opposite of Brian”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DDC053-2FBD-423F-1B11-57260CEF9E8D}"/>
              </a:ext>
            </a:extLst>
          </p:cNvPr>
          <p:cNvCxnSpPr>
            <a:cxnSpLocks/>
          </p:cNvCxnSpPr>
          <p:nvPr/>
        </p:nvCxnSpPr>
        <p:spPr>
          <a:xfrm>
            <a:off x="5355771" y="4421275"/>
            <a:ext cx="864159" cy="0"/>
          </a:xfrm>
          <a:prstGeom prst="line">
            <a:avLst/>
          </a:prstGeom>
          <a:ln w="19050">
            <a:solidFill>
              <a:srgbClr val="D8A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96A81B-B2B4-693D-F7F9-1A9762D22E73}"/>
              </a:ext>
            </a:extLst>
          </p:cNvPr>
          <p:cNvCxnSpPr>
            <a:cxnSpLocks/>
          </p:cNvCxnSpPr>
          <p:nvPr/>
        </p:nvCxnSpPr>
        <p:spPr>
          <a:xfrm>
            <a:off x="7204668" y="4421275"/>
            <a:ext cx="879527" cy="0"/>
          </a:xfrm>
          <a:prstGeom prst="line">
            <a:avLst/>
          </a:prstGeom>
          <a:ln w="19050">
            <a:solidFill>
              <a:srgbClr val="D8A9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829BD48-AD9A-669F-8157-98A9E6D24A2F}"/>
              </a:ext>
            </a:extLst>
          </p:cNvPr>
          <p:cNvSpPr txBox="1"/>
          <p:nvPr/>
        </p:nvSpPr>
        <p:spPr>
          <a:xfrm>
            <a:off x="6162216" y="4272727"/>
            <a:ext cx="1125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ook Antiqua" panose="02040602050305030304" pitchFamily="18" charset="0"/>
              </a:rPr>
              <a:t>Industry Avg</a:t>
            </a:r>
          </a:p>
        </p:txBody>
      </p:sp>
    </p:spTree>
    <p:extLst>
      <p:ext uri="{BB962C8B-B14F-4D97-AF65-F5344CB8AC3E}">
        <p14:creationId xmlns:p14="http://schemas.microsoft.com/office/powerpoint/2010/main" val="325130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538F-9078-8E91-35DB-375C27358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1675"/>
            <a:ext cx="7886700" cy="744583"/>
          </a:xfrm>
        </p:spPr>
        <p:txBody>
          <a:bodyPr/>
          <a:lstStyle/>
          <a:p>
            <a:r>
              <a:rPr lang="en-US" dirty="0"/>
              <a:t>Thesis 1: Clear Path to Sales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E85B-64A9-68E5-EFF0-9A816C81D80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650" y="1676399"/>
            <a:ext cx="3629024" cy="439592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91378-332C-4D02-01D7-E9F9DCE87E7C}"/>
              </a:ext>
            </a:extLst>
          </p:cNvPr>
          <p:cNvSpPr txBox="1"/>
          <p:nvPr/>
        </p:nvSpPr>
        <p:spPr>
          <a:xfrm>
            <a:off x="628649" y="1362074"/>
            <a:ext cx="3629025" cy="314325"/>
          </a:xfrm>
          <a:prstGeom prst="rect">
            <a:avLst/>
          </a:prstGeom>
          <a:solidFill>
            <a:srgbClr val="6836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C375C-0AF7-89E0-3856-129DFC517F9A}"/>
              </a:ext>
            </a:extLst>
          </p:cNvPr>
          <p:cNvSpPr txBox="1"/>
          <p:nvPr/>
        </p:nvSpPr>
        <p:spPr>
          <a:xfrm>
            <a:off x="628648" y="821616"/>
            <a:ext cx="6310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Putting it all together</a:t>
            </a:r>
          </a:p>
        </p:txBody>
      </p:sp>
    </p:spTree>
    <p:extLst>
      <p:ext uri="{BB962C8B-B14F-4D97-AF65-F5344CB8AC3E}">
        <p14:creationId xmlns:p14="http://schemas.microsoft.com/office/powerpoint/2010/main" val="1240658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A3607D-3EB9-E540-2FE4-C261F1859F85}"/>
              </a:ext>
            </a:extLst>
          </p:cNvPr>
          <p:cNvSpPr/>
          <p:nvPr/>
        </p:nvSpPr>
        <p:spPr>
          <a:xfrm>
            <a:off x="7798676" y="2144110"/>
            <a:ext cx="1072055" cy="3268718"/>
          </a:xfrm>
          <a:prstGeom prst="rect">
            <a:avLst/>
          </a:prstGeom>
          <a:solidFill>
            <a:srgbClr val="D7A9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1365C9-9A1B-7F12-EFC8-28DE88267B3A}"/>
              </a:ext>
            </a:extLst>
          </p:cNvPr>
          <p:cNvSpPr/>
          <p:nvPr/>
        </p:nvSpPr>
        <p:spPr>
          <a:xfrm>
            <a:off x="6563711" y="2144110"/>
            <a:ext cx="1072055" cy="3268718"/>
          </a:xfrm>
          <a:prstGeom prst="rect">
            <a:avLst/>
          </a:prstGeom>
          <a:solidFill>
            <a:srgbClr val="AB7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96B481-8D83-066C-25E4-1812349C9D73}"/>
              </a:ext>
            </a:extLst>
          </p:cNvPr>
          <p:cNvSpPr/>
          <p:nvPr/>
        </p:nvSpPr>
        <p:spPr>
          <a:xfrm>
            <a:off x="5328746" y="2144110"/>
            <a:ext cx="1072055" cy="3268718"/>
          </a:xfrm>
          <a:prstGeom prst="rect">
            <a:avLst/>
          </a:prstGeom>
          <a:solidFill>
            <a:srgbClr val="683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D8A979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ECA0ED-A87B-8AE7-3273-46EA2EED6CA9}"/>
              </a:ext>
            </a:extLst>
          </p:cNvPr>
          <p:cNvSpPr/>
          <p:nvPr/>
        </p:nvSpPr>
        <p:spPr>
          <a:xfrm>
            <a:off x="4109542" y="2144110"/>
            <a:ext cx="1072055" cy="3268718"/>
          </a:xfrm>
          <a:prstGeom prst="rect">
            <a:avLst/>
          </a:prstGeom>
          <a:solidFill>
            <a:srgbClr val="361D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86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454</Words>
  <Application>Microsoft Macintosh PowerPoint</Application>
  <PresentationFormat>On-screen Show (4:3)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Times New Roman</vt:lpstr>
      <vt:lpstr>Avenir Next LT Pro</vt:lpstr>
      <vt:lpstr>Calibri</vt:lpstr>
      <vt:lpstr>Book Antiqua</vt:lpstr>
      <vt:lpstr>Office Theme</vt:lpstr>
      <vt:lpstr>Situation Overview</vt:lpstr>
      <vt:lpstr>Situation Overview</vt:lpstr>
      <vt:lpstr>Situation Overview</vt:lpstr>
      <vt:lpstr>Thesis 1</vt:lpstr>
      <vt:lpstr>Thesis 1: Clear Path to Sales Target</vt:lpstr>
      <vt:lpstr>Thesis 1: Clear Path to Sales Target</vt:lpstr>
      <vt:lpstr>Thesis 1: Clear Path to Sales Target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Phua</dc:creator>
  <cp:lastModifiedBy>Microsoft Office User</cp:lastModifiedBy>
  <cp:revision>10</cp:revision>
  <dcterms:created xsi:type="dcterms:W3CDTF">2023-02-06T01:19:45Z</dcterms:created>
  <dcterms:modified xsi:type="dcterms:W3CDTF">2023-09-13T18:25:53Z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0x0101005A5C5104D662294E9922DFEDB0AAA375</vt:lpwstr>
  </property>
</Properties>
</file>